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56" r:id="rId5"/>
    <p:sldId id="257" r:id="rId6"/>
    <p:sldId id="258" r:id="rId7"/>
  </p:sldIdLst>
  <p:sldSz cx="15119350" cy="213836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96C9"/>
    <a:srgbClr val="59C2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911"/>
    <p:restoredTop sz="94703"/>
  </p:normalViewPr>
  <p:slideViewPr>
    <p:cSldViewPr snapToGrid="0">
      <p:cViewPr varScale="1">
        <p:scale>
          <a:sx n="34" d="100"/>
          <a:sy n="34" d="100"/>
        </p:scale>
        <p:origin x="370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3499590"/>
            <a:ext cx="12851448" cy="7444669"/>
          </a:xfrm>
        </p:spPr>
        <p:txBody>
          <a:bodyPr anchor="b"/>
          <a:lstStyle>
            <a:lvl1pPr algn="ctr">
              <a:defRPr sz="9921"/>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89919" y="11231355"/>
            <a:ext cx="11339513" cy="5162758"/>
          </a:xfrm>
        </p:spPr>
        <p:txBody>
          <a:bodyPr/>
          <a:lstStyle>
            <a:lvl1pPr marL="0" indent="0" algn="ctr">
              <a:buNone/>
              <a:defRPr sz="3968"/>
            </a:lvl1pPr>
            <a:lvl2pPr marL="755980" indent="0" algn="ctr">
              <a:buNone/>
              <a:defRPr sz="3307"/>
            </a:lvl2pPr>
            <a:lvl3pPr marL="1511960" indent="0" algn="ctr">
              <a:buNone/>
              <a:defRPr sz="2976"/>
            </a:lvl3pPr>
            <a:lvl4pPr marL="2267941" indent="0" algn="ctr">
              <a:buNone/>
              <a:defRPr sz="2646"/>
            </a:lvl4pPr>
            <a:lvl5pPr marL="3023921" indent="0" algn="ctr">
              <a:buNone/>
              <a:defRPr sz="2646"/>
            </a:lvl5pPr>
            <a:lvl6pPr marL="3779901" indent="0" algn="ctr">
              <a:buNone/>
              <a:defRPr sz="2646"/>
            </a:lvl6pPr>
            <a:lvl7pPr marL="4535881" indent="0" algn="ctr">
              <a:buNone/>
              <a:defRPr sz="2646"/>
            </a:lvl7pPr>
            <a:lvl8pPr marL="5291861" indent="0" algn="ctr">
              <a:buNone/>
              <a:defRPr sz="2646"/>
            </a:lvl8pPr>
            <a:lvl9pPr marL="6047842" indent="0" algn="ctr">
              <a:buNone/>
              <a:defRPr sz="2646"/>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18/09/2025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49784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18/09/2025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891489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031582" y="5331063"/>
            <a:ext cx="13040439" cy="8894992"/>
          </a:xfrm>
        </p:spPr>
        <p:txBody>
          <a:bodyPr anchor="b"/>
          <a:lstStyle>
            <a:lvl1pPr>
              <a:defRPr sz="9921"/>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1582" y="14310205"/>
            <a:ext cx="13040439" cy="4677666"/>
          </a:xfrm>
        </p:spPr>
        <p:txBody>
          <a:bodyPr/>
          <a:lstStyle>
            <a:lvl1pPr marL="0" indent="0">
              <a:buNone/>
              <a:defRPr sz="3968">
                <a:solidFill>
                  <a:schemeClr val="tx1">
                    <a:tint val="82000"/>
                  </a:schemeClr>
                </a:solidFill>
              </a:defRPr>
            </a:lvl1pPr>
            <a:lvl2pPr marL="755980" indent="0">
              <a:buNone/>
              <a:defRPr sz="3307">
                <a:solidFill>
                  <a:schemeClr val="tx1">
                    <a:tint val="82000"/>
                  </a:schemeClr>
                </a:solidFill>
              </a:defRPr>
            </a:lvl2pPr>
            <a:lvl3pPr marL="1511960" indent="0">
              <a:buNone/>
              <a:defRPr sz="2976">
                <a:solidFill>
                  <a:schemeClr val="tx1">
                    <a:tint val="82000"/>
                  </a:schemeClr>
                </a:solidFill>
              </a:defRPr>
            </a:lvl3pPr>
            <a:lvl4pPr marL="2267941" indent="0">
              <a:buNone/>
              <a:defRPr sz="2646">
                <a:solidFill>
                  <a:schemeClr val="tx1">
                    <a:tint val="82000"/>
                  </a:schemeClr>
                </a:solidFill>
              </a:defRPr>
            </a:lvl4pPr>
            <a:lvl5pPr marL="3023921" indent="0">
              <a:buNone/>
              <a:defRPr sz="2646">
                <a:solidFill>
                  <a:schemeClr val="tx1">
                    <a:tint val="82000"/>
                  </a:schemeClr>
                </a:solidFill>
              </a:defRPr>
            </a:lvl5pPr>
            <a:lvl6pPr marL="3779901" indent="0">
              <a:buNone/>
              <a:defRPr sz="2646">
                <a:solidFill>
                  <a:schemeClr val="tx1">
                    <a:tint val="82000"/>
                  </a:schemeClr>
                </a:solidFill>
              </a:defRPr>
            </a:lvl6pPr>
            <a:lvl7pPr marL="4535881" indent="0">
              <a:buNone/>
              <a:defRPr sz="2646">
                <a:solidFill>
                  <a:schemeClr val="tx1">
                    <a:tint val="82000"/>
                  </a:schemeClr>
                </a:solidFill>
              </a:defRPr>
            </a:lvl7pPr>
            <a:lvl8pPr marL="5291861" indent="0">
              <a:buNone/>
              <a:defRPr sz="2646">
                <a:solidFill>
                  <a:schemeClr val="tx1">
                    <a:tint val="82000"/>
                  </a:schemeClr>
                </a:solidFill>
              </a:defRPr>
            </a:lvl8pPr>
            <a:lvl9pPr marL="6047842" indent="0">
              <a:buNone/>
              <a:defRPr sz="2646">
                <a:solidFill>
                  <a:schemeClr val="tx1">
                    <a:tint val="82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8DA1BBD-1589-104E-89D9-FD291A5EDB06}" type="datetimeFigureOut">
              <a:rPr lang="es-ES_tradnl" smtClean="0"/>
              <a:t>18/09/2025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698851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39455"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654171"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A8DA1BBD-1589-104E-89D9-FD291A5EDB06}" type="datetimeFigureOut">
              <a:rPr lang="es-ES_tradnl" smtClean="0"/>
              <a:t>18/09/2025</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921705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041425" y="1138485"/>
            <a:ext cx="13040439" cy="4133179"/>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41426" y="5241960"/>
            <a:ext cx="63961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4" name="Content Placeholder 3"/>
          <p:cNvSpPr>
            <a:spLocks noGrp="1"/>
          </p:cNvSpPr>
          <p:nvPr>
            <p:ph sz="half" idx="2"/>
          </p:nvPr>
        </p:nvSpPr>
        <p:spPr>
          <a:xfrm>
            <a:off x="1041426" y="7810963"/>
            <a:ext cx="63961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654172" y="5241960"/>
            <a:ext cx="64276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6" name="Content Placeholder 5"/>
          <p:cNvSpPr>
            <a:spLocks noGrp="1"/>
          </p:cNvSpPr>
          <p:nvPr>
            <p:ph sz="quarter" idx="4"/>
          </p:nvPr>
        </p:nvSpPr>
        <p:spPr>
          <a:xfrm>
            <a:off x="7654172" y="7810963"/>
            <a:ext cx="64276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A8DA1BBD-1589-104E-89D9-FD291A5EDB06}" type="datetimeFigureOut">
              <a:rPr lang="es-ES_tradnl" smtClean="0"/>
              <a:t>18/09/2025</a:t>
            </a:fld>
            <a:endParaRPr lang="es-ES_tradnl"/>
          </a:p>
        </p:txBody>
      </p:sp>
      <p:sp>
        <p:nvSpPr>
          <p:cNvPr id="8" name="Footer Placeholder 7"/>
          <p:cNvSpPr>
            <a:spLocks noGrp="1"/>
          </p:cNvSpPr>
          <p:nvPr>
            <p:ph type="ftr" sz="quarter" idx="11"/>
          </p:nvPr>
        </p:nvSpPr>
        <p:spPr/>
        <p:txBody>
          <a:bodyPr/>
          <a:lstStyle/>
          <a:p>
            <a:endParaRPr lang="es-ES_tradnl"/>
          </a:p>
        </p:txBody>
      </p:sp>
      <p:sp>
        <p:nvSpPr>
          <p:cNvPr id="9" name="Slide Number Placeholder 8"/>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632023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A8DA1BBD-1589-104E-89D9-FD291A5EDB06}" type="datetimeFigureOut">
              <a:rPr lang="es-ES_tradnl" smtClean="0"/>
              <a:t>18/09/2025</a:t>
            </a:fld>
            <a:endParaRPr lang="es-ES_tradnl"/>
          </a:p>
        </p:txBody>
      </p:sp>
      <p:sp>
        <p:nvSpPr>
          <p:cNvPr id="4" name="Footer Placeholder 3"/>
          <p:cNvSpPr>
            <a:spLocks noGrp="1"/>
          </p:cNvSpPr>
          <p:nvPr>
            <p:ph type="ftr" sz="quarter" idx="11"/>
          </p:nvPr>
        </p:nvSpPr>
        <p:spPr/>
        <p:txBody>
          <a:bodyPr/>
          <a:lstStyle/>
          <a:p>
            <a:endParaRPr lang="es-ES_tradnl"/>
          </a:p>
        </p:txBody>
      </p:sp>
      <p:sp>
        <p:nvSpPr>
          <p:cNvPr id="5" name="Slide Number Placeholder 4"/>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3892796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DA1BBD-1589-104E-89D9-FD291A5EDB06}" type="datetimeFigureOut">
              <a:rPr lang="es-ES_tradnl" smtClean="0"/>
              <a:t>18/09/2025</a:t>
            </a:fld>
            <a:endParaRPr lang="es-ES_tradnl"/>
          </a:p>
        </p:txBody>
      </p:sp>
      <p:sp>
        <p:nvSpPr>
          <p:cNvPr id="3" name="Footer Placeholder 2"/>
          <p:cNvSpPr>
            <a:spLocks noGrp="1"/>
          </p:cNvSpPr>
          <p:nvPr>
            <p:ph type="ftr" sz="quarter" idx="11"/>
          </p:nvPr>
        </p:nvSpPr>
        <p:spPr/>
        <p:txBody>
          <a:bodyPr/>
          <a:lstStyle/>
          <a:p>
            <a:endParaRPr lang="es-ES_tradnl"/>
          </a:p>
        </p:txBody>
      </p:sp>
      <p:sp>
        <p:nvSpPr>
          <p:cNvPr id="4" name="Slide Number Placeholder 3"/>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542561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Content Placeholder 2"/>
          <p:cNvSpPr>
            <a:spLocks noGrp="1"/>
          </p:cNvSpPr>
          <p:nvPr>
            <p:ph idx="1"/>
          </p:nvPr>
        </p:nvSpPr>
        <p:spPr>
          <a:xfrm>
            <a:off x="6427693" y="3078850"/>
            <a:ext cx="7654171" cy="15196234"/>
          </a:xfrm>
        </p:spPr>
        <p:txBody>
          <a:bodyPr/>
          <a:lstStyle>
            <a:lvl1pPr>
              <a:defRPr sz="5291"/>
            </a:lvl1pPr>
            <a:lvl2pPr>
              <a:defRPr sz="4630"/>
            </a:lvl2pPr>
            <a:lvl3pPr>
              <a:defRPr sz="3968"/>
            </a:lvl3pPr>
            <a:lvl4pPr>
              <a:defRPr sz="3307"/>
            </a:lvl4pPr>
            <a:lvl5pPr>
              <a:defRPr sz="3307"/>
            </a:lvl5pPr>
            <a:lvl6pPr>
              <a:defRPr sz="3307"/>
            </a:lvl6pPr>
            <a:lvl7pPr>
              <a:defRPr sz="3307"/>
            </a:lvl7pPr>
            <a:lvl8pPr>
              <a:defRPr sz="3307"/>
            </a:lvl8pPr>
            <a:lvl9pPr>
              <a:defRPr sz="3307"/>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18/09/2025</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048480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427693" y="3078850"/>
            <a:ext cx="7654171" cy="15196234"/>
          </a:xfrm>
        </p:spPr>
        <p:txBody>
          <a:bodyPr anchor="t"/>
          <a:lstStyle>
            <a:lvl1pPr marL="0" indent="0">
              <a:buNone/>
              <a:defRPr sz="5291"/>
            </a:lvl1pPr>
            <a:lvl2pPr marL="755980" indent="0">
              <a:buNone/>
              <a:defRPr sz="4630"/>
            </a:lvl2pPr>
            <a:lvl3pPr marL="1511960" indent="0">
              <a:buNone/>
              <a:defRPr sz="3968"/>
            </a:lvl3pPr>
            <a:lvl4pPr marL="2267941" indent="0">
              <a:buNone/>
              <a:defRPr sz="3307"/>
            </a:lvl4pPr>
            <a:lvl5pPr marL="3023921" indent="0">
              <a:buNone/>
              <a:defRPr sz="3307"/>
            </a:lvl5pPr>
            <a:lvl6pPr marL="3779901" indent="0">
              <a:buNone/>
              <a:defRPr sz="3307"/>
            </a:lvl6pPr>
            <a:lvl7pPr marL="4535881" indent="0">
              <a:buNone/>
              <a:defRPr sz="3307"/>
            </a:lvl7pPr>
            <a:lvl8pPr marL="5291861" indent="0">
              <a:buNone/>
              <a:defRPr sz="3307"/>
            </a:lvl8pPr>
            <a:lvl9pPr marL="6047842" indent="0">
              <a:buNone/>
              <a:defRPr sz="3307"/>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18/09/2025</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377756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18/09/2025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336129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6" y="1138480"/>
            <a:ext cx="3260110" cy="1812163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39456" y="1138480"/>
            <a:ext cx="9591338" cy="1812163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18/09/2025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307249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1138485"/>
            <a:ext cx="13040439" cy="4133179"/>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9456" y="5692400"/>
            <a:ext cx="13040439" cy="1356771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9455" y="19819457"/>
            <a:ext cx="3401854" cy="1138480"/>
          </a:xfrm>
          <a:prstGeom prst="rect">
            <a:avLst/>
          </a:prstGeom>
        </p:spPr>
        <p:txBody>
          <a:bodyPr vert="horz" lIns="91440" tIns="45720" rIns="91440" bIns="45720" rtlCol="0" anchor="ctr"/>
          <a:lstStyle>
            <a:lvl1pPr algn="l">
              <a:defRPr sz="1984">
                <a:solidFill>
                  <a:schemeClr val="tx1">
                    <a:tint val="82000"/>
                  </a:schemeClr>
                </a:solidFill>
              </a:defRPr>
            </a:lvl1pPr>
          </a:lstStyle>
          <a:p>
            <a:fld id="{A8DA1BBD-1589-104E-89D9-FD291A5EDB06}" type="datetimeFigureOut">
              <a:rPr lang="es-ES_tradnl" smtClean="0"/>
              <a:t>18/09/2025</a:t>
            </a:fld>
            <a:endParaRPr lang="es-ES_tradnl"/>
          </a:p>
        </p:txBody>
      </p:sp>
      <p:sp>
        <p:nvSpPr>
          <p:cNvPr id="5" name="Footer Placeholder 4"/>
          <p:cNvSpPr>
            <a:spLocks noGrp="1"/>
          </p:cNvSpPr>
          <p:nvPr>
            <p:ph type="ftr" sz="quarter" idx="3"/>
          </p:nvPr>
        </p:nvSpPr>
        <p:spPr>
          <a:xfrm>
            <a:off x="5008285" y="19819457"/>
            <a:ext cx="5102781" cy="1138480"/>
          </a:xfrm>
          <a:prstGeom prst="rect">
            <a:avLst/>
          </a:prstGeom>
        </p:spPr>
        <p:txBody>
          <a:bodyPr vert="horz" lIns="91440" tIns="45720" rIns="91440" bIns="45720" rtlCol="0" anchor="ctr"/>
          <a:lstStyle>
            <a:lvl1pPr algn="ctr">
              <a:defRPr sz="1984">
                <a:solidFill>
                  <a:schemeClr val="tx1">
                    <a:tint val="82000"/>
                  </a:schemeClr>
                </a:solidFill>
              </a:defRPr>
            </a:lvl1pPr>
          </a:lstStyle>
          <a:p>
            <a:endParaRPr lang="es-ES_tradnl"/>
          </a:p>
        </p:txBody>
      </p:sp>
      <p:sp>
        <p:nvSpPr>
          <p:cNvPr id="6" name="Slide Number Placeholder 5"/>
          <p:cNvSpPr>
            <a:spLocks noGrp="1"/>
          </p:cNvSpPr>
          <p:nvPr>
            <p:ph type="sldNum" sz="quarter" idx="4"/>
          </p:nvPr>
        </p:nvSpPr>
        <p:spPr>
          <a:xfrm>
            <a:off x="10678041" y="19819457"/>
            <a:ext cx="3401854" cy="1138480"/>
          </a:xfrm>
          <a:prstGeom prst="rect">
            <a:avLst/>
          </a:prstGeom>
        </p:spPr>
        <p:txBody>
          <a:bodyPr vert="horz" lIns="91440" tIns="45720" rIns="91440" bIns="45720" rtlCol="0" anchor="ctr"/>
          <a:lstStyle>
            <a:lvl1pPr algn="r">
              <a:defRPr sz="1984">
                <a:solidFill>
                  <a:schemeClr val="tx1">
                    <a:tint val="82000"/>
                  </a:schemeClr>
                </a:solidFill>
              </a:defRPr>
            </a:lvl1p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8325351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511960" rtl="0" eaLnBrk="1" latinLnBrk="0" hangingPunct="1">
        <a:lnSpc>
          <a:spcPct val="90000"/>
        </a:lnSpc>
        <a:spcBef>
          <a:spcPct val="0"/>
        </a:spcBef>
        <a:buNone/>
        <a:defRPr sz="7275" kern="1200">
          <a:solidFill>
            <a:schemeClr val="tx1"/>
          </a:solidFill>
          <a:latin typeface="+mj-lt"/>
          <a:ea typeface="+mj-ea"/>
          <a:cs typeface="+mj-cs"/>
        </a:defRPr>
      </a:lvl1pPr>
    </p:titleStyle>
    <p:bodyStyle>
      <a:lvl1pPr marL="377990" indent="-377990" algn="l" defTabSz="1511960" rtl="0" eaLnBrk="1" latinLnBrk="0" hangingPunct="1">
        <a:lnSpc>
          <a:spcPct val="90000"/>
        </a:lnSpc>
        <a:spcBef>
          <a:spcPts val="1654"/>
        </a:spcBef>
        <a:buFont typeface="Arial" panose="020B0604020202020204" pitchFamily="34" charset="0"/>
        <a:buChar char="•"/>
        <a:defRPr sz="4630" kern="1200">
          <a:solidFill>
            <a:schemeClr val="tx1"/>
          </a:solidFill>
          <a:latin typeface="+mn-lt"/>
          <a:ea typeface="+mn-ea"/>
          <a:cs typeface="+mn-cs"/>
        </a:defRPr>
      </a:lvl1pPr>
      <a:lvl2pPr marL="1133970" indent="-377990" algn="l" defTabSz="1511960" rtl="0" eaLnBrk="1" latinLnBrk="0" hangingPunct="1">
        <a:lnSpc>
          <a:spcPct val="90000"/>
        </a:lnSpc>
        <a:spcBef>
          <a:spcPts val="827"/>
        </a:spcBef>
        <a:buFont typeface="Arial" panose="020B0604020202020204" pitchFamily="34" charset="0"/>
        <a:buChar char="•"/>
        <a:defRPr sz="3968" kern="1200">
          <a:solidFill>
            <a:schemeClr val="tx1"/>
          </a:solidFill>
          <a:latin typeface="+mn-lt"/>
          <a:ea typeface="+mn-ea"/>
          <a:cs typeface="+mn-cs"/>
        </a:defRPr>
      </a:lvl2pPr>
      <a:lvl3pPr marL="1889951" indent="-377990" algn="l" defTabSz="1511960" rtl="0" eaLnBrk="1" latinLnBrk="0" hangingPunct="1">
        <a:lnSpc>
          <a:spcPct val="90000"/>
        </a:lnSpc>
        <a:spcBef>
          <a:spcPts val="827"/>
        </a:spcBef>
        <a:buFont typeface="Arial" panose="020B0604020202020204" pitchFamily="34" charset="0"/>
        <a:buChar char="•"/>
        <a:defRPr sz="3307" kern="1200">
          <a:solidFill>
            <a:schemeClr val="tx1"/>
          </a:solidFill>
          <a:latin typeface="+mn-lt"/>
          <a:ea typeface="+mn-ea"/>
          <a:cs typeface="+mn-cs"/>
        </a:defRPr>
      </a:lvl3pPr>
      <a:lvl4pPr marL="264593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4pPr>
      <a:lvl5pPr marL="340191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5pPr>
      <a:lvl6pPr marL="415789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6pPr>
      <a:lvl7pPr marL="491387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7pPr>
      <a:lvl8pPr marL="566985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8pPr>
      <a:lvl9pPr marL="642583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9pPr>
    </p:bodyStyle>
    <p:otherStyle>
      <a:defPPr>
        <a:defRPr lang="en-US"/>
      </a:defPPr>
      <a:lvl1pPr marL="0" algn="l" defTabSz="1511960" rtl="0" eaLnBrk="1" latinLnBrk="0" hangingPunct="1">
        <a:defRPr sz="2976" kern="1200">
          <a:solidFill>
            <a:schemeClr val="tx1"/>
          </a:solidFill>
          <a:latin typeface="+mn-lt"/>
          <a:ea typeface="+mn-ea"/>
          <a:cs typeface="+mn-cs"/>
        </a:defRPr>
      </a:lvl1pPr>
      <a:lvl2pPr marL="755980" algn="l" defTabSz="1511960" rtl="0" eaLnBrk="1" latinLnBrk="0" hangingPunct="1">
        <a:defRPr sz="2976" kern="1200">
          <a:solidFill>
            <a:schemeClr val="tx1"/>
          </a:solidFill>
          <a:latin typeface="+mn-lt"/>
          <a:ea typeface="+mn-ea"/>
          <a:cs typeface="+mn-cs"/>
        </a:defRPr>
      </a:lvl2pPr>
      <a:lvl3pPr marL="1511960" algn="l" defTabSz="1511960" rtl="0" eaLnBrk="1" latinLnBrk="0" hangingPunct="1">
        <a:defRPr sz="2976" kern="1200">
          <a:solidFill>
            <a:schemeClr val="tx1"/>
          </a:solidFill>
          <a:latin typeface="+mn-lt"/>
          <a:ea typeface="+mn-ea"/>
          <a:cs typeface="+mn-cs"/>
        </a:defRPr>
      </a:lvl3pPr>
      <a:lvl4pPr marL="2267941" algn="l" defTabSz="1511960" rtl="0" eaLnBrk="1" latinLnBrk="0" hangingPunct="1">
        <a:defRPr sz="2976" kern="1200">
          <a:solidFill>
            <a:schemeClr val="tx1"/>
          </a:solidFill>
          <a:latin typeface="+mn-lt"/>
          <a:ea typeface="+mn-ea"/>
          <a:cs typeface="+mn-cs"/>
        </a:defRPr>
      </a:lvl4pPr>
      <a:lvl5pPr marL="3023921" algn="l" defTabSz="1511960" rtl="0" eaLnBrk="1" latinLnBrk="0" hangingPunct="1">
        <a:defRPr sz="2976" kern="1200">
          <a:solidFill>
            <a:schemeClr val="tx1"/>
          </a:solidFill>
          <a:latin typeface="+mn-lt"/>
          <a:ea typeface="+mn-ea"/>
          <a:cs typeface="+mn-cs"/>
        </a:defRPr>
      </a:lvl5pPr>
      <a:lvl6pPr marL="3779901" algn="l" defTabSz="1511960" rtl="0" eaLnBrk="1" latinLnBrk="0" hangingPunct="1">
        <a:defRPr sz="2976" kern="1200">
          <a:solidFill>
            <a:schemeClr val="tx1"/>
          </a:solidFill>
          <a:latin typeface="+mn-lt"/>
          <a:ea typeface="+mn-ea"/>
          <a:cs typeface="+mn-cs"/>
        </a:defRPr>
      </a:lvl6pPr>
      <a:lvl7pPr marL="4535881" algn="l" defTabSz="1511960" rtl="0" eaLnBrk="1" latinLnBrk="0" hangingPunct="1">
        <a:defRPr sz="2976" kern="1200">
          <a:solidFill>
            <a:schemeClr val="tx1"/>
          </a:solidFill>
          <a:latin typeface="+mn-lt"/>
          <a:ea typeface="+mn-ea"/>
          <a:cs typeface="+mn-cs"/>
        </a:defRPr>
      </a:lvl7pPr>
      <a:lvl8pPr marL="5291861" algn="l" defTabSz="1511960" rtl="0" eaLnBrk="1" latinLnBrk="0" hangingPunct="1">
        <a:defRPr sz="2976" kern="1200">
          <a:solidFill>
            <a:schemeClr val="tx1"/>
          </a:solidFill>
          <a:latin typeface="+mn-lt"/>
          <a:ea typeface="+mn-ea"/>
          <a:cs typeface="+mn-cs"/>
        </a:defRPr>
      </a:lvl8pPr>
      <a:lvl9pPr marL="6047842" algn="l" defTabSz="1511960" rtl="0" eaLnBrk="1" latinLnBrk="0" hangingPunct="1">
        <a:defRPr sz="297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chemeClr val="bg1"/>
            </a:gs>
            <a:gs pos="99000">
              <a:srgbClr val="59C2E3">
                <a:alpha val="25000"/>
              </a:srgbClr>
            </a:gs>
          </a:gsLst>
          <a:lin ang="2700000" scaled="1"/>
          <a:tileRect/>
        </a:gra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A97235A6-1E40-7550-49FE-93E2DA69811F}"/>
              </a:ext>
            </a:extLst>
          </p:cNvPr>
          <p:cNvPicPr>
            <a:picLocks noChangeAspect="1"/>
          </p:cNvPicPr>
          <p:nvPr/>
        </p:nvPicPr>
        <p:blipFill>
          <a:blip r:embed="rId2"/>
          <a:stretch>
            <a:fillRect/>
          </a:stretch>
        </p:blipFill>
        <p:spPr>
          <a:xfrm>
            <a:off x="0" y="-5895"/>
            <a:ext cx="4834200" cy="3276938"/>
          </a:xfrm>
          <a:prstGeom prst="rect">
            <a:avLst/>
          </a:prstGeom>
        </p:spPr>
      </p:pic>
      <p:pic>
        <p:nvPicPr>
          <p:cNvPr id="1028" name="Picture 4">
            <a:extLst>
              <a:ext uri="{FF2B5EF4-FFF2-40B4-BE49-F238E27FC236}">
                <a16:creationId xmlns:a16="http://schemas.microsoft.com/office/drawing/2014/main" id="{AF1EAE33-9AD6-0CD3-1C83-430AF00F9F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50766" y="-95517"/>
            <a:ext cx="2730517" cy="1644647"/>
          </a:xfrm>
          <a:prstGeom prst="rect">
            <a:avLst/>
          </a:prstGeom>
          <a:noFill/>
          <a:extLst>
            <a:ext uri="{909E8E84-426E-40DD-AFC4-6F175D3DCCD1}">
              <a14:hiddenFill xmlns:a14="http://schemas.microsoft.com/office/drawing/2010/main">
                <a:solidFill>
                  <a:srgbClr val="FFFFFF"/>
                </a:solidFill>
              </a14:hiddenFill>
            </a:ext>
          </a:extLst>
        </p:spPr>
      </p:pic>
      <p:sp>
        <p:nvSpPr>
          <p:cNvPr id="27" name="Rectángulo 26">
            <a:extLst>
              <a:ext uri="{FF2B5EF4-FFF2-40B4-BE49-F238E27FC236}">
                <a16:creationId xmlns:a16="http://schemas.microsoft.com/office/drawing/2014/main" id="{2A8908FC-06DB-CC20-4597-9C79E3E1300F}"/>
              </a:ext>
            </a:extLst>
          </p:cNvPr>
          <p:cNvSpPr/>
          <p:nvPr/>
        </p:nvSpPr>
        <p:spPr>
          <a:xfrm>
            <a:off x="964642" y="1549130"/>
            <a:ext cx="2257529" cy="671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8" name="Rectángulo redondeado 27">
            <a:extLst>
              <a:ext uri="{FF2B5EF4-FFF2-40B4-BE49-F238E27FC236}">
                <a16:creationId xmlns:a16="http://schemas.microsoft.com/office/drawing/2014/main" id="{F3826BEE-6C42-E5BE-B7F2-93F3C600A2F9}"/>
              </a:ext>
            </a:extLst>
          </p:cNvPr>
          <p:cNvSpPr/>
          <p:nvPr/>
        </p:nvSpPr>
        <p:spPr>
          <a:xfrm>
            <a:off x="964643" y="2007220"/>
            <a:ext cx="13190066" cy="18806265"/>
          </a:xfrm>
          <a:prstGeom prst="roundRect">
            <a:avLst>
              <a:gd name="adj" fmla="val 3587"/>
            </a:avLst>
          </a:prstGeom>
          <a:gradFill>
            <a:gsLst>
              <a:gs pos="100000">
                <a:srgbClr val="4196C9"/>
              </a:gs>
              <a:gs pos="0">
                <a:srgbClr val="59C2E3"/>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90000" tIns="46800" rtlCol="0" anchor="t"/>
          <a:lstStyle/>
          <a:p>
            <a:pPr algn="ctr"/>
            <a:r>
              <a:rPr lang="es-ES_tradnl" sz="4800" b="1" dirty="0">
                <a:solidFill>
                  <a:schemeClr val="bg1"/>
                </a:solidFill>
              </a:rPr>
              <a:t>Normas para el uso de la plantilla en las actividades grupales</a:t>
            </a:r>
          </a:p>
          <a:p>
            <a:pPr algn="ctr"/>
            <a:endParaRPr lang="es-ES_tradnl" sz="4800" b="1" i="1" dirty="0">
              <a:solidFill>
                <a:schemeClr val="bg1"/>
              </a:solidFill>
            </a:endParaRPr>
          </a:p>
          <a:p>
            <a:pPr marL="742950" indent="-742950">
              <a:buFont typeface="+mj-lt"/>
              <a:buAutoNum type="arabicPeriod"/>
            </a:pPr>
            <a:r>
              <a:rPr lang="es-ES_tradnl" sz="2600" dirty="0">
                <a:solidFill>
                  <a:schemeClr val="bg1"/>
                </a:solidFill>
              </a:rPr>
              <a:t>Este póster en idioma </a:t>
            </a:r>
            <a:r>
              <a:rPr lang="es-ES_tradnl" sz="2600" u="sng" dirty="0">
                <a:solidFill>
                  <a:schemeClr val="bg1"/>
                </a:solidFill>
              </a:rPr>
              <a:t>castellano</a:t>
            </a:r>
            <a:r>
              <a:rPr lang="es-ES_tradnl" sz="2600" dirty="0">
                <a:solidFill>
                  <a:schemeClr val="bg1"/>
                </a:solidFill>
              </a:rPr>
              <a:t> servirá para presentar de forma sintética y visual el trabajo realizado en cada actividad grupal. La correcta presentación y formato serán tenidos en cuenta en la evaluación.</a:t>
            </a:r>
          </a:p>
          <a:p>
            <a:pPr marL="742950" indent="-742950">
              <a:buFont typeface="+mj-lt"/>
              <a:buAutoNum type="arabicPeriod"/>
            </a:pPr>
            <a:endParaRPr lang="es-ES_tradnl" sz="2600" dirty="0">
              <a:solidFill>
                <a:schemeClr val="bg1"/>
              </a:solidFill>
            </a:endParaRPr>
          </a:p>
          <a:p>
            <a:pPr marL="742950" indent="-742950">
              <a:buFont typeface="+mj-lt"/>
              <a:buAutoNum type="arabicPeriod"/>
            </a:pPr>
            <a:r>
              <a:rPr lang="es-ES_tradnl" sz="2600" dirty="0">
                <a:solidFill>
                  <a:schemeClr val="bg1"/>
                </a:solidFill>
              </a:rPr>
              <a:t>Se deberá respetar el orden y el contenido de las siguientes secciones (</a:t>
            </a:r>
            <a:r>
              <a:rPr lang="es-ES_tradnl" sz="2600" u="sng" dirty="0">
                <a:solidFill>
                  <a:schemeClr val="bg1"/>
                </a:solidFill>
              </a:rPr>
              <a:t>Hoja 3 de la PPT</a:t>
            </a:r>
            <a:r>
              <a:rPr lang="es-ES_tradnl" sz="2600" dirty="0">
                <a:solidFill>
                  <a:schemeClr val="bg1"/>
                </a:solidFill>
              </a:rPr>
              <a:t>): </a:t>
            </a:r>
          </a:p>
          <a:p>
            <a:pPr marL="1314450" lvl="1" indent="-282575">
              <a:buFont typeface="Arial" panose="020B0604020202020204" pitchFamily="34" charset="0"/>
              <a:buChar char="•"/>
            </a:pPr>
            <a:r>
              <a:rPr lang="es-ES_tradnl" sz="2600" dirty="0">
                <a:solidFill>
                  <a:schemeClr val="bg1"/>
                </a:solidFill>
              </a:rPr>
              <a:t>Encabezado del póster: Título de la actividad, Nombres de los integrantes, Nombre de la asignatura (ej. Secuenciación y </a:t>
            </a:r>
            <a:r>
              <a:rPr lang="es-ES_tradnl" sz="2600" dirty="0" err="1">
                <a:solidFill>
                  <a:schemeClr val="bg1"/>
                </a:solidFill>
              </a:rPr>
              <a:t>Ómicas</a:t>
            </a:r>
            <a:r>
              <a:rPr lang="es-ES_tradnl" sz="2600" dirty="0">
                <a:solidFill>
                  <a:schemeClr val="bg1"/>
                </a:solidFill>
              </a:rPr>
              <a:t> de Próxima Generación etc.)</a:t>
            </a:r>
          </a:p>
          <a:p>
            <a:pPr marL="1314450" lvl="1" indent="-282575">
              <a:buFont typeface="Arial" panose="020B0604020202020204" pitchFamily="34" charset="0"/>
              <a:buChar char="•"/>
            </a:pPr>
            <a:r>
              <a:rPr lang="es-ES_tradnl" sz="2600" dirty="0">
                <a:solidFill>
                  <a:schemeClr val="bg1"/>
                </a:solidFill>
              </a:rPr>
              <a:t>Introducción (2-3 líneas máximo): Breve contexto del análisis, Hipótesis planteada, Objetivo específico</a:t>
            </a:r>
          </a:p>
          <a:p>
            <a:pPr marL="1314450" lvl="1" indent="-282575">
              <a:buFont typeface="Arial" panose="020B0604020202020204" pitchFamily="34" charset="0"/>
              <a:buChar char="•"/>
            </a:pPr>
            <a:r>
              <a:rPr lang="es-ES_tradnl" sz="2600" dirty="0">
                <a:solidFill>
                  <a:schemeClr val="bg1"/>
                </a:solidFill>
              </a:rPr>
              <a:t>Metodología: Descripción concisa del enfoque utilizado, Herramientas bioinformáticas o estadísticas empleadas, Bases de datos o fuentes utilizadas</a:t>
            </a:r>
          </a:p>
          <a:p>
            <a:pPr marL="1314450" lvl="1" indent="-282575">
              <a:buFont typeface="Arial" panose="020B0604020202020204" pitchFamily="34" charset="0"/>
              <a:buChar char="•"/>
            </a:pPr>
            <a:r>
              <a:rPr lang="es-ES_tradnl" sz="2600" dirty="0">
                <a:solidFill>
                  <a:schemeClr val="bg1"/>
                </a:solidFill>
              </a:rPr>
              <a:t>Resultados: Uso  de </a:t>
            </a:r>
            <a:r>
              <a:rPr lang="es-ES_tradnl" sz="2600" u="sng" dirty="0">
                <a:solidFill>
                  <a:schemeClr val="bg1"/>
                </a:solidFill>
              </a:rPr>
              <a:t>gráficos</a:t>
            </a:r>
            <a:r>
              <a:rPr lang="es-ES_tradnl" sz="2600" dirty="0">
                <a:solidFill>
                  <a:schemeClr val="bg1"/>
                </a:solidFill>
              </a:rPr>
              <a:t> o visualizaciones adecuadas (figuras legibles y bien etiquetadas) que expliquen solas los resultados. Cada Gráfica deberá tener un título y si es conveniente un pie de figura. </a:t>
            </a:r>
            <a:r>
              <a:rPr lang="es-ES_tradnl" sz="2600" u="sng" dirty="0">
                <a:solidFill>
                  <a:schemeClr val="bg1"/>
                </a:solidFill>
              </a:rPr>
              <a:t>No permitido añadir texto para complementar la explicación.</a:t>
            </a:r>
          </a:p>
          <a:p>
            <a:pPr marL="1314450" lvl="1" indent="-282575">
              <a:buFont typeface="Arial" panose="020B0604020202020204" pitchFamily="34" charset="0"/>
              <a:buChar char="•"/>
            </a:pPr>
            <a:r>
              <a:rPr lang="es-ES_tradnl" sz="2600" dirty="0">
                <a:solidFill>
                  <a:schemeClr val="bg1"/>
                </a:solidFill>
              </a:rPr>
              <a:t>Discusión: Interpretación de los resultados, Identificación de genes clave, Posibles relaciones con condiciones biológicas relevantes</a:t>
            </a:r>
          </a:p>
          <a:p>
            <a:pPr marL="1314450" lvl="1" indent="-282575">
              <a:buFont typeface="Arial" panose="020B0604020202020204" pitchFamily="34" charset="0"/>
              <a:buChar char="•"/>
            </a:pPr>
            <a:r>
              <a:rPr lang="es-ES_tradnl" sz="2600" dirty="0">
                <a:solidFill>
                  <a:schemeClr val="bg1"/>
                </a:solidFill>
              </a:rPr>
              <a:t>Conclusiones: Resumen de los principales hallazgos, Limitaciones detectadas en el análisis, Propuestas futuras (si aplica)</a:t>
            </a:r>
          </a:p>
          <a:p>
            <a:pPr marL="1314450" lvl="1" indent="-282575">
              <a:buFont typeface="Arial" panose="020B0604020202020204" pitchFamily="34" charset="0"/>
              <a:buChar char="•"/>
            </a:pPr>
            <a:endParaRPr lang="es-ES_tradnl" sz="2600" dirty="0">
              <a:solidFill>
                <a:schemeClr val="bg1"/>
              </a:solidFill>
            </a:endParaRPr>
          </a:p>
          <a:p>
            <a:pPr marL="742950" lvl="1" indent="-742950">
              <a:buFont typeface="+mj-lt"/>
              <a:buAutoNum type="arabicPeriod" startAt="3"/>
            </a:pPr>
            <a:r>
              <a:rPr lang="es-ES_tradnl" sz="2600" dirty="0">
                <a:solidFill>
                  <a:schemeClr val="bg1"/>
                </a:solidFill>
              </a:rPr>
              <a:t>Normas de formato y presentación:</a:t>
            </a:r>
          </a:p>
          <a:p>
            <a:pPr marL="1489075" lvl="1" indent="-457200">
              <a:buFont typeface="Arial" panose="020B0604020202020204" pitchFamily="34" charset="0"/>
              <a:buChar char="•"/>
            </a:pPr>
            <a:r>
              <a:rPr lang="es-ES_tradnl" sz="2600" dirty="0">
                <a:solidFill>
                  <a:schemeClr val="bg1"/>
                </a:solidFill>
              </a:rPr>
              <a:t>NO se permite modificar el formato original de la plantilla.</a:t>
            </a:r>
          </a:p>
          <a:p>
            <a:pPr marL="1489075" lvl="1" indent="-457200">
              <a:buFont typeface="Arial" panose="020B0604020202020204" pitchFamily="34" charset="0"/>
              <a:buChar char="•"/>
            </a:pPr>
            <a:r>
              <a:rPr lang="es-ES_tradnl" sz="2600" dirty="0">
                <a:solidFill>
                  <a:schemeClr val="bg1"/>
                </a:solidFill>
              </a:rPr>
              <a:t>Cualquier alteración del diseño será penalizada (colores, márgenes, fuentes, estructura).</a:t>
            </a:r>
          </a:p>
          <a:p>
            <a:pPr marL="1489075" lvl="1" indent="-457200">
              <a:buFont typeface="Arial" panose="020B0604020202020204" pitchFamily="34" charset="0"/>
              <a:buChar char="•"/>
            </a:pPr>
            <a:r>
              <a:rPr lang="es-ES_tradnl" sz="2600" dirty="0">
                <a:solidFill>
                  <a:schemeClr val="bg1"/>
                </a:solidFill>
              </a:rPr>
              <a:t>Tipografía obligatoria: </a:t>
            </a:r>
          </a:p>
          <a:p>
            <a:pPr marL="2403475" lvl="3" indent="-457200">
              <a:buFont typeface="Wingdings" pitchFamily="2" charset="2"/>
              <a:buChar char="Ø"/>
            </a:pPr>
            <a:r>
              <a:rPr lang="es-ES_tradnl" sz="2600" dirty="0">
                <a:solidFill>
                  <a:schemeClr val="bg1"/>
                </a:solidFill>
              </a:rPr>
              <a:t>Texto: Aptos (Cuerpo) 18</a:t>
            </a:r>
          </a:p>
          <a:p>
            <a:pPr marL="2403475" lvl="3" indent="-457200">
              <a:buFont typeface="Wingdings" pitchFamily="2" charset="2"/>
              <a:buChar char="Ø"/>
            </a:pPr>
            <a:r>
              <a:rPr lang="es-ES_tradnl" sz="2600" dirty="0">
                <a:solidFill>
                  <a:schemeClr val="bg1"/>
                </a:solidFill>
              </a:rPr>
              <a:t>No se permite el uso de otras tipografías ni cambios en el tamaño establecido.</a:t>
            </a:r>
          </a:p>
          <a:p>
            <a:pPr marL="1489075" lvl="1" indent="-457200">
              <a:buFont typeface="Arial" panose="020B0604020202020204" pitchFamily="34" charset="0"/>
              <a:buChar char="•"/>
            </a:pPr>
            <a:r>
              <a:rPr lang="es-ES_tradnl" sz="2600" dirty="0">
                <a:solidFill>
                  <a:schemeClr val="bg1"/>
                </a:solidFill>
              </a:rPr>
              <a:t>Redacción: Clara, precisa y científica.</a:t>
            </a:r>
          </a:p>
          <a:p>
            <a:pPr marL="1489075" lvl="1" indent="-457200">
              <a:buFont typeface="Arial" panose="020B0604020202020204" pitchFamily="34" charset="0"/>
              <a:buChar char="•"/>
            </a:pPr>
            <a:r>
              <a:rPr lang="es-ES_tradnl" sz="2600" dirty="0">
                <a:solidFill>
                  <a:schemeClr val="bg1"/>
                </a:solidFill>
              </a:rPr>
              <a:t>Se valorará la coherencia entre secciones.</a:t>
            </a:r>
          </a:p>
          <a:p>
            <a:pPr marL="1489075" lvl="1" indent="-457200">
              <a:buFont typeface="Arial" panose="020B0604020202020204" pitchFamily="34" charset="0"/>
              <a:buChar char="•"/>
            </a:pPr>
            <a:r>
              <a:rPr lang="es-ES_tradnl" sz="2600" dirty="0">
                <a:solidFill>
                  <a:schemeClr val="bg1"/>
                </a:solidFill>
              </a:rPr>
              <a:t>Evitar lenguaje coloquial.</a:t>
            </a:r>
          </a:p>
          <a:p>
            <a:pPr marL="1489075" lvl="1" indent="-457200">
              <a:buFont typeface="Arial" panose="020B0604020202020204" pitchFamily="34" charset="0"/>
              <a:buChar char="•"/>
            </a:pPr>
            <a:r>
              <a:rPr lang="es-ES_tradnl" sz="2600" dirty="0">
                <a:solidFill>
                  <a:schemeClr val="bg1"/>
                </a:solidFill>
              </a:rPr>
              <a:t>Ortografía:</a:t>
            </a:r>
          </a:p>
          <a:p>
            <a:pPr marL="2403475" lvl="3" indent="-457200">
              <a:buFont typeface="Wingdings" pitchFamily="2" charset="2"/>
              <a:buChar char="Ø"/>
            </a:pPr>
            <a:r>
              <a:rPr lang="es-ES_tradnl" sz="2600" dirty="0">
                <a:solidFill>
                  <a:schemeClr val="bg1"/>
                </a:solidFill>
              </a:rPr>
              <a:t>No se permiten faltas ortográficas ni errores gramaticales.</a:t>
            </a:r>
          </a:p>
          <a:p>
            <a:pPr marL="1489075" lvl="1" indent="-457200">
              <a:buFont typeface="Arial" panose="020B0604020202020204" pitchFamily="34" charset="0"/>
              <a:buChar char="•"/>
            </a:pPr>
            <a:r>
              <a:rPr lang="es-ES_tradnl" sz="2600" dirty="0">
                <a:solidFill>
                  <a:schemeClr val="bg1"/>
                </a:solidFill>
              </a:rPr>
              <a:t>Visuales:</a:t>
            </a:r>
          </a:p>
          <a:p>
            <a:pPr marL="2403475" lvl="3" indent="-457200">
              <a:buFont typeface="Wingdings" pitchFamily="2" charset="2"/>
              <a:buChar char="Ø"/>
            </a:pPr>
            <a:r>
              <a:rPr lang="es-ES_tradnl" sz="2600" dirty="0">
                <a:solidFill>
                  <a:schemeClr val="bg1"/>
                </a:solidFill>
              </a:rPr>
              <a:t>Todas las gráficas deben estar bien etiquetadas, con leyendas claras (todas las tipografías permitidas).</a:t>
            </a:r>
          </a:p>
          <a:p>
            <a:pPr marL="2403475" lvl="3" indent="-457200">
              <a:buFont typeface="Wingdings" pitchFamily="2" charset="2"/>
              <a:buChar char="Ø"/>
            </a:pPr>
            <a:r>
              <a:rPr lang="es-ES_tradnl" sz="2600" dirty="0">
                <a:solidFill>
                  <a:schemeClr val="bg1"/>
                </a:solidFill>
              </a:rPr>
              <a:t>No sobrecargar el póster con texto o imágenes innecesarias.</a:t>
            </a:r>
          </a:p>
        </p:txBody>
      </p:sp>
    </p:spTree>
    <p:extLst>
      <p:ext uri="{BB962C8B-B14F-4D97-AF65-F5344CB8AC3E}">
        <p14:creationId xmlns:p14="http://schemas.microsoft.com/office/powerpoint/2010/main" val="3205397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chemeClr val="bg1"/>
            </a:gs>
            <a:gs pos="99000">
              <a:srgbClr val="59C2E3">
                <a:alpha val="25000"/>
              </a:srgbClr>
            </a:gs>
          </a:gsLst>
          <a:lin ang="2700000" scaled="1"/>
          <a:tileRect/>
        </a:gradFill>
        <a:effectLst/>
      </p:bgPr>
    </p:bg>
    <p:spTree>
      <p:nvGrpSpPr>
        <p:cNvPr id="1" name="">
          <a:extLst>
            <a:ext uri="{FF2B5EF4-FFF2-40B4-BE49-F238E27FC236}">
              <a16:creationId xmlns:a16="http://schemas.microsoft.com/office/drawing/2014/main" id="{01741A3D-E56A-6A90-DD91-76A3ADF8E205}"/>
            </a:ext>
          </a:extLst>
        </p:cNvPr>
        <p:cNvGrpSpPr/>
        <p:nvPr/>
      </p:nvGrpSpPr>
      <p:grpSpPr>
        <a:xfrm>
          <a:off x="0" y="0"/>
          <a:ext cx="0" cy="0"/>
          <a:chOff x="0" y="0"/>
          <a:chExt cx="0" cy="0"/>
        </a:xfrm>
      </p:grpSpPr>
      <p:grpSp>
        <p:nvGrpSpPr>
          <p:cNvPr id="9" name="Grupo 8">
            <a:extLst>
              <a:ext uri="{FF2B5EF4-FFF2-40B4-BE49-F238E27FC236}">
                <a16:creationId xmlns:a16="http://schemas.microsoft.com/office/drawing/2014/main" id="{5C953506-346C-A8BF-67B5-F34567C6BC6E}"/>
              </a:ext>
            </a:extLst>
          </p:cNvPr>
          <p:cNvGrpSpPr/>
          <p:nvPr/>
        </p:nvGrpSpPr>
        <p:grpSpPr>
          <a:xfrm>
            <a:off x="207596" y="7403672"/>
            <a:ext cx="14668990" cy="9665128"/>
            <a:chOff x="225180" y="8290675"/>
            <a:chExt cx="14668990" cy="9665128"/>
          </a:xfrm>
        </p:grpSpPr>
        <p:sp>
          <p:nvSpPr>
            <p:cNvPr id="16" name="Rectángulo redondeado 15">
              <a:extLst>
                <a:ext uri="{FF2B5EF4-FFF2-40B4-BE49-F238E27FC236}">
                  <a16:creationId xmlns:a16="http://schemas.microsoft.com/office/drawing/2014/main" id="{C870726C-A1BB-2615-E2FF-5658152644CA}"/>
                </a:ext>
              </a:extLst>
            </p:cNvPr>
            <p:cNvSpPr/>
            <p:nvPr/>
          </p:nvSpPr>
          <p:spPr>
            <a:xfrm>
              <a:off x="225180" y="8607197"/>
              <a:ext cx="14668990" cy="9348606"/>
            </a:xfrm>
            <a:prstGeom prst="roundRect">
              <a:avLst>
                <a:gd name="adj" fmla="val 1988"/>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endParaRPr lang="es-ES_tradnl" sz="2400" i="1" dirty="0">
                <a:solidFill>
                  <a:schemeClr val="tx1"/>
                </a:solidFill>
              </a:endParaRPr>
            </a:p>
          </p:txBody>
        </p:sp>
        <p:sp>
          <p:nvSpPr>
            <p:cNvPr id="17" name="Rectángulo redondeado 16">
              <a:extLst>
                <a:ext uri="{FF2B5EF4-FFF2-40B4-BE49-F238E27FC236}">
                  <a16:creationId xmlns:a16="http://schemas.microsoft.com/office/drawing/2014/main" id="{43F36DFC-F638-779B-0878-B5E8AD53AD3E}"/>
                </a:ext>
              </a:extLst>
            </p:cNvPr>
            <p:cNvSpPr/>
            <p:nvPr/>
          </p:nvSpPr>
          <p:spPr>
            <a:xfrm>
              <a:off x="518258" y="8290675"/>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RESULTADOS</a:t>
              </a:r>
            </a:p>
          </p:txBody>
        </p:sp>
      </p:grpSp>
      <p:grpSp>
        <p:nvGrpSpPr>
          <p:cNvPr id="4" name="Grupo 3">
            <a:extLst>
              <a:ext uri="{FF2B5EF4-FFF2-40B4-BE49-F238E27FC236}">
                <a16:creationId xmlns:a16="http://schemas.microsoft.com/office/drawing/2014/main" id="{5FCC48C4-680E-DC53-FF73-95EB091356FB}"/>
              </a:ext>
            </a:extLst>
          </p:cNvPr>
          <p:cNvGrpSpPr/>
          <p:nvPr/>
        </p:nvGrpSpPr>
        <p:grpSpPr>
          <a:xfrm>
            <a:off x="225180" y="3484254"/>
            <a:ext cx="14668990" cy="1504934"/>
            <a:chOff x="225180" y="3930299"/>
            <a:chExt cx="14668990" cy="1504934"/>
          </a:xfrm>
        </p:grpSpPr>
        <p:sp>
          <p:nvSpPr>
            <p:cNvPr id="8" name="Rectángulo redondeado 7">
              <a:extLst>
                <a:ext uri="{FF2B5EF4-FFF2-40B4-BE49-F238E27FC236}">
                  <a16:creationId xmlns:a16="http://schemas.microsoft.com/office/drawing/2014/main" id="{FEB7D3ED-CF02-C938-2FA1-39EE97AC2AA9}"/>
                </a:ext>
              </a:extLst>
            </p:cNvPr>
            <p:cNvSpPr/>
            <p:nvPr/>
          </p:nvSpPr>
          <p:spPr>
            <a:xfrm>
              <a:off x="225180" y="4246822"/>
              <a:ext cx="14668990" cy="1188411"/>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Este trabajo tiene como objetivo clasificar a los sujetos en distintos subgrupos nutricionales o </a:t>
              </a:r>
              <a:r>
                <a:rPr lang="es-ES_tradnl" i="1" dirty="0" err="1">
                  <a:solidFill>
                    <a:schemeClr val="tx1"/>
                  </a:solidFill>
                </a:rPr>
                <a:t>dietotipos</a:t>
              </a:r>
              <a:r>
                <a:rPr lang="es-ES_tradnl" i="1" dirty="0">
                  <a:solidFill>
                    <a:schemeClr val="tx1"/>
                  </a:solidFill>
                </a:rPr>
                <a:t> según su ingesta dietética y sus resultados de salud, utilizando métodos de reducción dimensional. Esta estrategia permite avanzar hacia intervenciones personalizadas que mejoren la salud cardiometabólica y la calidad de vida.</a:t>
              </a:r>
              <a:endParaRPr lang="es-ES_tradnl" sz="2400" i="1" dirty="0">
                <a:solidFill>
                  <a:schemeClr val="tx1"/>
                </a:solidFill>
              </a:endParaRPr>
            </a:p>
          </p:txBody>
        </p:sp>
        <p:sp>
          <p:nvSpPr>
            <p:cNvPr id="7" name="Rectángulo redondeado 6">
              <a:extLst>
                <a:ext uri="{FF2B5EF4-FFF2-40B4-BE49-F238E27FC236}">
                  <a16:creationId xmlns:a16="http://schemas.microsoft.com/office/drawing/2014/main" id="{3945C9BD-E878-C904-BB12-F0BA2D1763CA}"/>
                </a:ext>
              </a:extLst>
            </p:cNvPr>
            <p:cNvSpPr/>
            <p:nvPr/>
          </p:nvSpPr>
          <p:spPr>
            <a:xfrm>
              <a:off x="518258" y="393029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a:t>INTRODUCCIÓN</a:t>
              </a:r>
              <a:endParaRPr lang="es-ES_tradnl" sz="2800" b="1" dirty="0"/>
            </a:p>
          </p:txBody>
        </p:sp>
      </p:grpSp>
      <p:grpSp>
        <p:nvGrpSpPr>
          <p:cNvPr id="6" name="Grupo 5">
            <a:extLst>
              <a:ext uri="{FF2B5EF4-FFF2-40B4-BE49-F238E27FC236}">
                <a16:creationId xmlns:a16="http://schemas.microsoft.com/office/drawing/2014/main" id="{7B23F5A3-8FA4-BB38-32D0-0ECAD0F925F2}"/>
              </a:ext>
            </a:extLst>
          </p:cNvPr>
          <p:cNvGrpSpPr/>
          <p:nvPr/>
        </p:nvGrpSpPr>
        <p:grpSpPr>
          <a:xfrm>
            <a:off x="207596" y="5235817"/>
            <a:ext cx="14668990" cy="1992925"/>
            <a:chOff x="207596" y="6110487"/>
            <a:chExt cx="14668990" cy="1992925"/>
          </a:xfrm>
        </p:grpSpPr>
        <p:sp>
          <p:nvSpPr>
            <p:cNvPr id="14" name="Rectángulo redondeado 13">
              <a:extLst>
                <a:ext uri="{FF2B5EF4-FFF2-40B4-BE49-F238E27FC236}">
                  <a16:creationId xmlns:a16="http://schemas.microsoft.com/office/drawing/2014/main" id="{CB14F1FF-25D2-FA75-CD9F-A24420348853}"/>
                </a:ext>
              </a:extLst>
            </p:cNvPr>
            <p:cNvSpPr/>
            <p:nvPr/>
          </p:nvSpPr>
          <p:spPr>
            <a:xfrm>
              <a:off x="207596" y="6427010"/>
              <a:ext cx="14668990" cy="1676402"/>
            </a:xfrm>
            <a:prstGeom prst="roundRect">
              <a:avLst>
                <a:gd name="adj" fmla="val 970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Se realizó un análisis exploratorio multidimensional con datos dietéticos detallados de la base de datos proporcionada, incluyendo cuestionarios validados (FFQ y recordatorio de 72h), medidas antropométricas y bioquímicas. Mediante un análisis de PCA se analizaron 85 variables estandarizadas (21 dietéticas y 64 nutricionales), identificándose cuatro componentes dietéticos principales. Se aplicó un </a:t>
              </a:r>
              <a:r>
                <a:rPr lang="es-ES_tradnl" i="1" dirty="0" err="1">
                  <a:solidFill>
                    <a:schemeClr val="tx1"/>
                  </a:solidFill>
                </a:rPr>
                <a:t>parallel</a:t>
              </a:r>
              <a:r>
                <a:rPr lang="es-ES_tradnl" i="1" dirty="0">
                  <a:solidFill>
                    <a:schemeClr val="tx1"/>
                  </a:solidFill>
                </a:rPr>
                <a:t> </a:t>
              </a:r>
              <a:r>
                <a:rPr lang="es-ES_tradnl" i="1" dirty="0" err="1">
                  <a:solidFill>
                    <a:schemeClr val="tx1"/>
                  </a:solidFill>
                </a:rPr>
                <a:t>analysis</a:t>
              </a:r>
              <a:r>
                <a:rPr lang="es-ES_tradnl" i="1" dirty="0">
                  <a:solidFill>
                    <a:schemeClr val="tx1"/>
                  </a:solidFill>
                </a:rPr>
                <a:t> para confirmar el número óptimo de factores, y se clasificó a los participantes según su grado de adherencia a cada patrón. Posteriormente, se evaluaron correlaciones de Spearman entre los factores dietéticos y 104 variables clínicas, ajustando por energía y posibles confusores</a:t>
              </a:r>
              <a:endParaRPr lang="es-ES_tradnl" sz="2400" i="1" dirty="0">
                <a:solidFill>
                  <a:schemeClr val="tx1"/>
                </a:solidFill>
              </a:endParaRPr>
            </a:p>
          </p:txBody>
        </p:sp>
        <p:sp>
          <p:nvSpPr>
            <p:cNvPr id="15" name="Rectángulo redondeado 14">
              <a:extLst>
                <a:ext uri="{FF2B5EF4-FFF2-40B4-BE49-F238E27FC236}">
                  <a16:creationId xmlns:a16="http://schemas.microsoft.com/office/drawing/2014/main" id="{F33D0645-E9FA-A931-364E-3210E3E69D6A}"/>
                </a:ext>
              </a:extLst>
            </p:cNvPr>
            <p:cNvSpPr/>
            <p:nvPr/>
          </p:nvSpPr>
          <p:spPr>
            <a:xfrm>
              <a:off x="500674" y="6110487"/>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METODOLOGÍA</a:t>
              </a:r>
            </a:p>
          </p:txBody>
        </p:sp>
      </p:grpSp>
      <p:grpSp>
        <p:nvGrpSpPr>
          <p:cNvPr id="10" name="Grupo 9">
            <a:extLst>
              <a:ext uri="{FF2B5EF4-FFF2-40B4-BE49-F238E27FC236}">
                <a16:creationId xmlns:a16="http://schemas.microsoft.com/office/drawing/2014/main" id="{20BD9571-E0A9-AB44-7B64-0F522BA4288F}"/>
              </a:ext>
            </a:extLst>
          </p:cNvPr>
          <p:cNvGrpSpPr/>
          <p:nvPr/>
        </p:nvGrpSpPr>
        <p:grpSpPr>
          <a:xfrm>
            <a:off x="225181" y="17303689"/>
            <a:ext cx="9095800" cy="3844742"/>
            <a:chOff x="225181" y="17303689"/>
            <a:chExt cx="9095800" cy="3844742"/>
          </a:xfrm>
        </p:grpSpPr>
        <p:sp>
          <p:nvSpPr>
            <p:cNvPr id="22" name="Rectángulo redondeado 21">
              <a:extLst>
                <a:ext uri="{FF2B5EF4-FFF2-40B4-BE49-F238E27FC236}">
                  <a16:creationId xmlns:a16="http://schemas.microsoft.com/office/drawing/2014/main" id="{381B9892-98E6-4609-C6F1-567DBF51A163}"/>
                </a:ext>
              </a:extLst>
            </p:cNvPr>
            <p:cNvSpPr/>
            <p:nvPr/>
          </p:nvSpPr>
          <p:spPr>
            <a:xfrm>
              <a:off x="225181" y="17620211"/>
              <a:ext cx="9095800"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Los cuatro patrones dietéticos identificados muestran perfiles nutricionales y clínicos diferenciados que permiten establecer relaciones entre la dieta y marcadores de salud metabólica. El patrón proto-omnívoro (F1p-O) se asoció positivamente con masa magra, agua corporal total y fuerza muscular, lo que sugiere un perfil metabólicamente activo. El patrón pro-vegetariano (F2p-V) mostró asociaciones favorables con vitaminas hidrosolubles y un menor nivel de insulina, apuntando a un posible efecto protector frente a la resistencia a la insulina. El patrón pro-Mediterráneo (F3p-M) se relacionó inversamente con interleucina-6 y zinc, lo que podría indicar un perfil antiinflamatorio. Por otro lado, el patrón pro-</a:t>
              </a:r>
              <a:r>
                <a:rPr lang="es-ES_tradnl" i="1" dirty="0" err="1">
                  <a:solidFill>
                    <a:schemeClr val="tx1"/>
                  </a:solidFill>
                </a:rPr>
                <a:t>pescetariano</a:t>
              </a:r>
              <a:r>
                <a:rPr lang="es-ES_tradnl" i="1" dirty="0">
                  <a:solidFill>
                    <a:schemeClr val="tx1"/>
                  </a:solidFill>
                </a:rPr>
                <a:t> saludable (F4p-P) mostró una correlación positiva con selenio, aunque no alcanzó significación tras el ajuste. Estos resultados respaldan la utilidad del enfoque de nutrición de precisión para identificar </a:t>
              </a:r>
              <a:r>
                <a:rPr lang="es-ES_tradnl" i="1" dirty="0" err="1">
                  <a:solidFill>
                    <a:schemeClr val="tx1"/>
                  </a:solidFill>
                </a:rPr>
                <a:t>dietotipos</a:t>
              </a:r>
              <a:r>
                <a:rPr lang="es-ES_tradnl" i="1" dirty="0">
                  <a:solidFill>
                    <a:schemeClr val="tx1"/>
                  </a:solidFill>
                </a:rPr>
                <a:t> con implicaciones clínicas, particularmente en el contexto del metabolismo y la inflamación, dos ejes clave en enfermedades como la obesidad y sus comorbilidades.</a:t>
              </a:r>
              <a:endParaRPr lang="es-ES_tradnl" sz="2400" i="1" dirty="0">
                <a:solidFill>
                  <a:schemeClr val="tx1"/>
                </a:solidFill>
              </a:endParaRPr>
            </a:p>
          </p:txBody>
        </p:sp>
        <p:sp>
          <p:nvSpPr>
            <p:cNvPr id="23" name="Rectángulo redondeado 22">
              <a:extLst>
                <a:ext uri="{FF2B5EF4-FFF2-40B4-BE49-F238E27FC236}">
                  <a16:creationId xmlns:a16="http://schemas.microsoft.com/office/drawing/2014/main" id="{A2D4C693-7BBD-E0C1-588A-41A91139D35B}"/>
                </a:ext>
              </a:extLst>
            </p:cNvPr>
            <p:cNvSpPr/>
            <p:nvPr/>
          </p:nvSpPr>
          <p:spPr>
            <a:xfrm>
              <a:off x="518258"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DISCUSIÓN</a:t>
              </a:r>
            </a:p>
          </p:txBody>
        </p:sp>
      </p:grpSp>
      <p:grpSp>
        <p:nvGrpSpPr>
          <p:cNvPr id="11" name="Grupo 10">
            <a:extLst>
              <a:ext uri="{FF2B5EF4-FFF2-40B4-BE49-F238E27FC236}">
                <a16:creationId xmlns:a16="http://schemas.microsoft.com/office/drawing/2014/main" id="{623B4F90-B675-90D5-3A62-801C71241135}"/>
              </a:ext>
            </a:extLst>
          </p:cNvPr>
          <p:cNvGrpSpPr/>
          <p:nvPr/>
        </p:nvGrpSpPr>
        <p:grpSpPr>
          <a:xfrm>
            <a:off x="9527458" y="17303689"/>
            <a:ext cx="5366712" cy="3844742"/>
            <a:chOff x="7784856" y="17303689"/>
            <a:chExt cx="7109314" cy="3844742"/>
          </a:xfrm>
        </p:grpSpPr>
        <p:sp>
          <p:nvSpPr>
            <p:cNvPr id="24" name="Rectángulo redondeado 23">
              <a:extLst>
                <a:ext uri="{FF2B5EF4-FFF2-40B4-BE49-F238E27FC236}">
                  <a16:creationId xmlns:a16="http://schemas.microsoft.com/office/drawing/2014/main" id="{C0FDA565-7231-A04B-604B-CBBA360FA2A9}"/>
                </a:ext>
              </a:extLst>
            </p:cNvPr>
            <p:cNvSpPr/>
            <p:nvPr/>
          </p:nvSpPr>
          <p:spPr>
            <a:xfrm>
              <a:off x="7784856" y="17620211"/>
              <a:ext cx="7109314"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Nuestros hallazgos sugieren que los patrones dietéticos </a:t>
              </a:r>
              <a:r>
                <a:rPr lang="es-ES_tradnl" i="1" dirty="0" err="1">
                  <a:solidFill>
                    <a:schemeClr val="tx1"/>
                  </a:solidFill>
                </a:rPr>
                <a:t>protoomnívoros</a:t>
              </a:r>
              <a:r>
                <a:rPr lang="es-ES_tradnl" i="1" dirty="0">
                  <a:solidFill>
                    <a:schemeClr val="tx1"/>
                  </a:solidFill>
                </a:rPr>
                <a:t> se asocian positivamente con los componentes de masa magra, mientras que las dietas basadas en plantas mostraron tendencias opuestas. Los patrones dietéticos mediterráneos indujeron una posible asociación con perfiles antiinflamatorios. Estos resultados resaltan la posible utilidad de los métodos de reducción dimensional para comprender la presencia de </a:t>
              </a:r>
              <a:r>
                <a:rPr lang="es-ES_tradnl" i="1" dirty="0" err="1">
                  <a:solidFill>
                    <a:schemeClr val="tx1"/>
                  </a:solidFill>
                </a:rPr>
                <a:t>dietotipos</a:t>
              </a:r>
              <a:r>
                <a:rPr lang="es-ES_tradnl" i="1" dirty="0">
                  <a:solidFill>
                    <a:schemeClr val="tx1"/>
                  </a:solidFill>
                </a:rPr>
                <a:t> agrupados cualitativos que relacionan la dieta con los resultados de salud para la prescripción de nutrición de precisión.</a:t>
              </a:r>
              <a:endParaRPr lang="es-ES_tradnl" sz="2400" i="1" dirty="0">
                <a:solidFill>
                  <a:schemeClr val="tx1"/>
                </a:solidFill>
              </a:endParaRPr>
            </a:p>
          </p:txBody>
        </p:sp>
        <p:sp>
          <p:nvSpPr>
            <p:cNvPr id="25" name="Rectángulo redondeado 24">
              <a:extLst>
                <a:ext uri="{FF2B5EF4-FFF2-40B4-BE49-F238E27FC236}">
                  <a16:creationId xmlns:a16="http://schemas.microsoft.com/office/drawing/2014/main" id="{0097D6A2-C865-70C9-C895-A45D8FA392DF}"/>
                </a:ext>
              </a:extLst>
            </p:cNvPr>
            <p:cNvSpPr/>
            <p:nvPr/>
          </p:nvSpPr>
          <p:spPr>
            <a:xfrm>
              <a:off x="8077933"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CONCLUSIONES</a:t>
              </a:r>
            </a:p>
          </p:txBody>
        </p:sp>
      </p:grpSp>
      <p:pic>
        <p:nvPicPr>
          <p:cNvPr id="1028" name="Picture 4">
            <a:extLst>
              <a:ext uri="{FF2B5EF4-FFF2-40B4-BE49-F238E27FC236}">
                <a16:creationId xmlns:a16="http://schemas.microsoft.com/office/drawing/2014/main" id="{70274CC9-2241-1244-4118-364EC63C34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50767" y="-95516"/>
            <a:ext cx="2325820" cy="1400890"/>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upo 17">
            <a:extLst>
              <a:ext uri="{FF2B5EF4-FFF2-40B4-BE49-F238E27FC236}">
                <a16:creationId xmlns:a16="http://schemas.microsoft.com/office/drawing/2014/main" id="{8F6A5FD5-7463-A593-72C7-F0E4EB285025}"/>
              </a:ext>
            </a:extLst>
          </p:cNvPr>
          <p:cNvGrpSpPr>
            <a:grpSpLocks noChangeAspect="1"/>
          </p:cNvGrpSpPr>
          <p:nvPr/>
        </p:nvGrpSpPr>
        <p:grpSpPr>
          <a:xfrm>
            <a:off x="0" y="-5895"/>
            <a:ext cx="3397496" cy="2303046"/>
            <a:chOff x="0" y="-5895"/>
            <a:chExt cx="4834200" cy="3276938"/>
          </a:xfrm>
        </p:grpSpPr>
        <p:pic>
          <p:nvPicPr>
            <p:cNvPr id="5" name="Imagen 4">
              <a:extLst>
                <a:ext uri="{FF2B5EF4-FFF2-40B4-BE49-F238E27FC236}">
                  <a16:creationId xmlns:a16="http://schemas.microsoft.com/office/drawing/2014/main" id="{DE58BDFA-8AF2-7019-7FBC-D37E50AE445C}"/>
                </a:ext>
              </a:extLst>
            </p:cNvPr>
            <p:cNvPicPr>
              <a:picLocks noChangeAspect="1"/>
            </p:cNvPicPr>
            <p:nvPr/>
          </p:nvPicPr>
          <p:blipFill>
            <a:blip r:embed="rId3"/>
            <a:stretch>
              <a:fillRect/>
            </a:stretch>
          </p:blipFill>
          <p:spPr>
            <a:xfrm>
              <a:off x="0" y="-5895"/>
              <a:ext cx="4834200" cy="3276938"/>
            </a:xfrm>
            <a:prstGeom prst="rect">
              <a:avLst/>
            </a:prstGeom>
          </p:spPr>
        </p:pic>
        <p:sp>
          <p:nvSpPr>
            <p:cNvPr id="2" name="Rectángulo 1">
              <a:extLst>
                <a:ext uri="{FF2B5EF4-FFF2-40B4-BE49-F238E27FC236}">
                  <a16:creationId xmlns:a16="http://schemas.microsoft.com/office/drawing/2014/main" id="{AE74DE59-F695-8E93-09D0-A92C58D17992}"/>
                </a:ext>
              </a:extLst>
            </p:cNvPr>
            <p:cNvSpPr/>
            <p:nvPr/>
          </p:nvSpPr>
          <p:spPr>
            <a:xfrm>
              <a:off x="964642" y="1549130"/>
              <a:ext cx="2257529" cy="671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3" name="Rectángulo redondeado 2">
            <a:extLst>
              <a:ext uri="{FF2B5EF4-FFF2-40B4-BE49-F238E27FC236}">
                <a16:creationId xmlns:a16="http://schemas.microsoft.com/office/drawing/2014/main" id="{A8921268-A726-C96C-B743-206883618C91}"/>
              </a:ext>
            </a:extLst>
          </p:cNvPr>
          <p:cNvSpPr/>
          <p:nvPr/>
        </p:nvSpPr>
        <p:spPr>
          <a:xfrm>
            <a:off x="677955" y="1320342"/>
            <a:ext cx="13763441" cy="1981203"/>
          </a:xfrm>
          <a:prstGeom prst="roundRect">
            <a:avLst>
              <a:gd name="adj" fmla="val 9702"/>
            </a:avLst>
          </a:prstGeom>
          <a:solidFill>
            <a:srgbClr val="4196C9"/>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46800" rtlCol="0" anchor="ctr"/>
          <a:lstStyle/>
          <a:p>
            <a:pPr algn="ctr"/>
            <a:r>
              <a:rPr lang="es-ES_tradnl" sz="4000" b="1" dirty="0">
                <a:solidFill>
                  <a:schemeClr val="bg1"/>
                </a:solidFill>
              </a:rPr>
              <a:t>Análisis descriptivos de poblaciones fenotípicas </a:t>
            </a:r>
          </a:p>
          <a:p>
            <a:pPr algn="ctr">
              <a:lnSpc>
                <a:spcPct val="80000"/>
              </a:lnSpc>
            </a:pPr>
            <a:r>
              <a:rPr lang="es-ES_tradnl" sz="2800" b="1" i="1" dirty="0">
                <a:solidFill>
                  <a:schemeClr val="bg1"/>
                </a:solidFill>
              </a:rPr>
              <a:t>Estadística y R para Ciencias de la Salud</a:t>
            </a:r>
            <a:endParaRPr lang="es-ES_tradnl" sz="3600" b="1" i="1" dirty="0">
              <a:solidFill>
                <a:schemeClr val="bg1"/>
              </a:solidFill>
            </a:endParaRPr>
          </a:p>
          <a:p>
            <a:pPr algn="ctr">
              <a:lnSpc>
                <a:spcPct val="80000"/>
              </a:lnSpc>
            </a:pPr>
            <a:r>
              <a:rPr lang="es-ES_tradnl" sz="2000" b="1" i="1" dirty="0">
                <a:solidFill>
                  <a:schemeClr val="bg1"/>
                </a:solidFill>
              </a:rPr>
              <a:t>Víctor de la O, Edwin Fernández-Cruz </a:t>
            </a:r>
          </a:p>
        </p:txBody>
      </p:sp>
      <p:sp>
        <p:nvSpPr>
          <p:cNvPr id="19" name="CuadroTexto 18">
            <a:extLst>
              <a:ext uri="{FF2B5EF4-FFF2-40B4-BE49-F238E27FC236}">
                <a16:creationId xmlns:a16="http://schemas.microsoft.com/office/drawing/2014/main" id="{16E043BC-62DC-A50A-F677-84121C77150E}"/>
              </a:ext>
            </a:extLst>
          </p:cNvPr>
          <p:cNvSpPr txBox="1"/>
          <p:nvPr/>
        </p:nvSpPr>
        <p:spPr>
          <a:xfrm>
            <a:off x="3785136" y="244115"/>
            <a:ext cx="8168971" cy="769441"/>
          </a:xfrm>
          <a:prstGeom prst="rect">
            <a:avLst/>
          </a:prstGeom>
          <a:solidFill>
            <a:srgbClr val="FF0000"/>
          </a:solidFill>
        </p:spPr>
        <p:txBody>
          <a:bodyPr wrap="square" rtlCol="0">
            <a:spAutoFit/>
          </a:bodyPr>
          <a:lstStyle/>
          <a:p>
            <a:pPr algn="ctr"/>
            <a:r>
              <a:rPr lang="es-ES_tradnl" sz="4400" b="1" dirty="0">
                <a:solidFill>
                  <a:schemeClr val="bg1"/>
                </a:solidFill>
              </a:rPr>
              <a:t>EJEMPLO DE PÓSTER</a:t>
            </a:r>
          </a:p>
        </p:txBody>
      </p:sp>
      <p:pic>
        <p:nvPicPr>
          <p:cNvPr id="1026" name="Imagen 1025">
            <a:extLst>
              <a:ext uri="{FF2B5EF4-FFF2-40B4-BE49-F238E27FC236}">
                <a16:creationId xmlns:a16="http://schemas.microsoft.com/office/drawing/2014/main" id="{CE2825C3-FEB7-85C5-586A-818E2C8F72A7}"/>
              </a:ext>
            </a:extLst>
          </p:cNvPr>
          <p:cNvPicPr>
            <a:picLocks noChangeAspect="1"/>
          </p:cNvPicPr>
          <p:nvPr/>
        </p:nvPicPr>
        <p:blipFill>
          <a:blip r:embed="rId4"/>
          <a:stretch>
            <a:fillRect/>
          </a:stretch>
        </p:blipFill>
        <p:spPr>
          <a:xfrm>
            <a:off x="1492514" y="12668012"/>
            <a:ext cx="4585243" cy="4359971"/>
          </a:xfrm>
          <a:prstGeom prst="rect">
            <a:avLst/>
          </a:prstGeom>
        </p:spPr>
      </p:pic>
      <p:pic>
        <p:nvPicPr>
          <p:cNvPr id="1030" name="Imagen 1029">
            <a:extLst>
              <a:ext uri="{FF2B5EF4-FFF2-40B4-BE49-F238E27FC236}">
                <a16:creationId xmlns:a16="http://schemas.microsoft.com/office/drawing/2014/main" id="{67AE5237-CDD3-C381-4492-77FCF77CE19F}"/>
              </a:ext>
            </a:extLst>
          </p:cNvPr>
          <p:cNvPicPr>
            <a:picLocks noChangeAspect="1"/>
          </p:cNvPicPr>
          <p:nvPr/>
        </p:nvPicPr>
        <p:blipFill>
          <a:blip r:embed="rId5"/>
          <a:stretch>
            <a:fillRect/>
          </a:stretch>
        </p:blipFill>
        <p:spPr>
          <a:xfrm>
            <a:off x="8799234" y="12556709"/>
            <a:ext cx="4488385" cy="4359971"/>
          </a:xfrm>
          <a:prstGeom prst="rect">
            <a:avLst/>
          </a:prstGeom>
        </p:spPr>
      </p:pic>
      <p:pic>
        <p:nvPicPr>
          <p:cNvPr id="1031" name="Imagen 1030">
            <a:extLst>
              <a:ext uri="{FF2B5EF4-FFF2-40B4-BE49-F238E27FC236}">
                <a16:creationId xmlns:a16="http://schemas.microsoft.com/office/drawing/2014/main" id="{48ABB6AD-8DEB-8DDF-B8F6-3CA6779148A2}"/>
              </a:ext>
            </a:extLst>
          </p:cNvPr>
          <p:cNvPicPr>
            <a:picLocks noChangeAspect="1"/>
          </p:cNvPicPr>
          <p:nvPr/>
        </p:nvPicPr>
        <p:blipFill>
          <a:blip r:embed="rId6"/>
          <a:srcRect r="-355"/>
          <a:stretch/>
        </p:blipFill>
        <p:spPr>
          <a:xfrm>
            <a:off x="500674" y="8825800"/>
            <a:ext cx="14194891" cy="2911351"/>
          </a:xfrm>
          <a:prstGeom prst="rect">
            <a:avLst/>
          </a:prstGeom>
        </p:spPr>
      </p:pic>
      <p:sp>
        <p:nvSpPr>
          <p:cNvPr id="1036" name="Rectángulo redondeado 1035">
            <a:extLst>
              <a:ext uri="{FF2B5EF4-FFF2-40B4-BE49-F238E27FC236}">
                <a16:creationId xmlns:a16="http://schemas.microsoft.com/office/drawing/2014/main" id="{AFAF9801-11D6-F874-E9A8-A3E0E4590764}"/>
              </a:ext>
            </a:extLst>
          </p:cNvPr>
          <p:cNvSpPr/>
          <p:nvPr/>
        </p:nvSpPr>
        <p:spPr>
          <a:xfrm>
            <a:off x="518258" y="8158328"/>
            <a:ext cx="1395975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1.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Diagramas de cajas de la distribución más representativa del consumo dietético según cada factor estratificado por adherencia según los valores medianos</a:t>
            </a:r>
          </a:p>
        </p:txBody>
      </p:sp>
      <p:sp>
        <p:nvSpPr>
          <p:cNvPr id="1037" name="Rectángulo redondeado 1036">
            <a:extLst>
              <a:ext uri="{FF2B5EF4-FFF2-40B4-BE49-F238E27FC236}">
                <a16:creationId xmlns:a16="http://schemas.microsoft.com/office/drawing/2014/main" id="{60842445-E351-8E63-2B2D-F06DA2DB4243}"/>
              </a:ext>
            </a:extLst>
          </p:cNvPr>
          <p:cNvSpPr/>
          <p:nvPr/>
        </p:nvSpPr>
        <p:spPr>
          <a:xfrm>
            <a:off x="518258" y="11923663"/>
            <a:ext cx="6692011"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2. </a:t>
            </a:r>
            <a:r>
              <a:rPr kumimoji="0" lang="es-ES_tradnl" sz="1800" b="0" i="0" u="none" strike="noStrike" kern="1200" cap="none" spc="0" normalizeH="0" baseline="0" noProof="0" dirty="0" err="1">
                <a:ln>
                  <a:noFill/>
                </a:ln>
                <a:solidFill>
                  <a:prstClr val="black"/>
                </a:solidFill>
                <a:effectLst/>
                <a:uLnTx/>
                <a:uFillTx/>
                <a:latin typeface="Aptos" panose="02110004020202020204"/>
                <a:ea typeface="+mn-ea"/>
                <a:cs typeface="+mn-cs"/>
              </a:rPr>
              <a:t>Complex</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s-ES_tradnl" sz="1800" b="0" i="0" u="none" strike="noStrike" kern="1200" cap="none" spc="0" normalizeH="0" baseline="0" noProof="0" dirty="0" err="1">
                <a:ln>
                  <a:noFill/>
                </a:ln>
                <a:solidFill>
                  <a:prstClr val="black"/>
                </a:solidFill>
                <a:effectLst/>
                <a:uLnTx/>
                <a:uFillTx/>
                <a:latin typeface="Aptos" panose="02110004020202020204"/>
                <a:ea typeface="+mn-ea"/>
                <a:cs typeface="+mn-cs"/>
              </a:rPr>
              <a:t>heatmap</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 de características clínicas según cada Factor (F)</a:t>
            </a:r>
          </a:p>
        </p:txBody>
      </p:sp>
      <p:sp>
        <p:nvSpPr>
          <p:cNvPr id="1038" name="Rectángulo redondeado 1037">
            <a:extLst>
              <a:ext uri="{FF2B5EF4-FFF2-40B4-BE49-F238E27FC236}">
                <a16:creationId xmlns:a16="http://schemas.microsoft.com/office/drawing/2014/main" id="{20F2FDA8-F2AE-8EC6-EFD0-E92D4FCAEDFB}"/>
              </a:ext>
            </a:extLst>
          </p:cNvPr>
          <p:cNvSpPr/>
          <p:nvPr/>
        </p:nvSpPr>
        <p:spPr>
          <a:xfrm>
            <a:off x="7697422" y="11923663"/>
            <a:ext cx="6692011"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3.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Diagrama de bosque de asociaciones de características clínicas según cada factor (F)</a:t>
            </a:r>
          </a:p>
        </p:txBody>
      </p:sp>
    </p:spTree>
    <p:extLst>
      <p:ext uri="{BB962C8B-B14F-4D97-AF65-F5344CB8AC3E}">
        <p14:creationId xmlns:p14="http://schemas.microsoft.com/office/powerpoint/2010/main" val="220350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chemeClr val="bg1"/>
            </a:gs>
            <a:gs pos="99000">
              <a:srgbClr val="59C2E3">
                <a:alpha val="25000"/>
              </a:srgbClr>
            </a:gs>
          </a:gsLst>
          <a:lin ang="2700000" scaled="1"/>
          <a:tileRect/>
        </a:gradFill>
        <a:effectLst/>
      </p:bgPr>
    </p:bg>
    <p:spTree>
      <p:nvGrpSpPr>
        <p:cNvPr id="1" name="">
          <a:extLst>
            <a:ext uri="{FF2B5EF4-FFF2-40B4-BE49-F238E27FC236}">
              <a16:creationId xmlns:a16="http://schemas.microsoft.com/office/drawing/2014/main" id="{177A72C3-DD61-5B61-E46F-EDD19D1F5215}"/>
            </a:ext>
          </a:extLst>
        </p:cNvPr>
        <p:cNvGrpSpPr/>
        <p:nvPr/>
      </p:nvGrpSpPr>
      <p:grpSpPr>
        <a:xfrm>
          <a:off x="0" y="0"/>
          <a:ext cx="0" cy="0"/>
          <a:chOff x="0" y="0"/>
          <a:chExt cx="0" cy="0"/>
        </a:xfrm>
      </p:grpSpPr>
      <p:grpSp>
        <p:nvGrpSpPr>
          <p:cNvPr id="4" name="Grupo 3">
            <a:extLst>
              <a:ext uri="{FF2B5EF4-FFF2-40B4-BE49-F238E27FC236}">
                <a16:creationId xmlns:a16="http://schemas.microsoft.com/office/drawing/2014/main" id="{E1AA44F9-4D9B-B58B-32B6-5CC8410E7CBE}"/>
              </a:ext>
            </a:extLst>
          </p:cNvPr>
          <p:cNvGrpSpPr/>
          <p:nvPr/>
        </p:nvGrpSpPr>
        <p:grpSpPr>
          <a:xfrm>
            <a:off x="225180" y="3484254"/>
            <a:ext cx="14668990" cy="1504934"/>
            <a:chOff x="225180" y="3930299"/>
            <a:chExt cx="14668990" cy="1504934"/>
          </a:xfrm>
        </p:grpSpPr>
        <p:sp>
          <p:nvSpPr>
            <p:cNvPr id="8" name="Rectángulo redondeado 7">
              <a:extLst>
                <a:ext uri="{FF2B5EF4-FFF2-40B4-BE49-F238E27FC236}">
                  <a16:creationId xmlns:a16="http://schemas.microsoft.com/office/drawing/2014/main" id="{C4D1F524-44A5-F16E-9FD3-EE5EA5819EAD}"/>
                </a:ext>
              </a:extLst>
            </p:cNvPr>
            <p:cNvSpPr/>
            <p:nvPr/>
          </p:nvSpPr>
          <p:spPr>
            <a:xfrm>
              <a:off x="225180" y="4246822"/>
              <a:ext cx="14668990" cy="1188411"/>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Introducción de 2-3 líneas explicando el contexto del análisis, hipótesis y objetivo.</a:t>
              </a:r>
              <a:endParaRPr lang="es-ES_tradnl" sz="2400" i="1" dirty="0">
                <a:solidFill>
                  <a:schemeClr val="tx1"/>
                </a:solidFill>
              </a:endParaRPr>
            </a:p>
          </p:txBody>
        </p:sp>
        <p:sp>
          <p:nvSpPr>
            <p:cNvPr id="7" name="Rectángulo redondeado 6">
              <a:extLst>
                <a:ext uri="{FF2B5EF4-FFF2-40B4-BE49-F238E27FC236}">
                  <a16:creationId xmlns:a16="http://schemas.microsoft.com/office/drawing/2014/main" id="{15811AE5-F929-12ED-D44E-9D1519220278}"/>
                </a:ext>
              </a:extLst>
            </p:cNvPr>
            <p:cNvSpPr/>
            <p:nvPr/>
          </p:nvSpPr>
          <p:spPr>
            <a:xfrm>
              <a:off x="518258" y="393029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a:t>INTRODUCCIÓN</a:t>
              </a:r>
              <a:endParaRPr lang="es-ES_tradnl" sz="2800" b="1" dirty="0"/>
            </a:p>
          </p:txBody>
        </p:sp>
      </p:grpSp>
      <p:grpSp>
        <p:nvGrpSpPr>
          <p:cNvPr id="6" name="Grupo 5">
            <a:extLst>
              <a:ext uri="{FF2B5EF4-FFF2-40B4-BE49-F238E27FC236}">
                <a16:creationId xmlns:a16="http://schemas.microsoft.com/office/drawing/2014/main" id="{88FB225B-2F62-B172-D75B-E02EF3836A0E}"/>
              </a:ext>
            </a:extLst>
          </p:cNvPr>
          <p:cNvGrpSpPr/>
          <p:nvPr/>
        </p:nvGrpSpPr>
        <p:grpSpPr>
          <a:xfrm>
            <a:off x="207596" y="5169142"/>
            <a:ext cx="14668990" cy="1992925"/>
            <a:chOff x="207596" y="6110487"/>
            <a:chExt cx="14668990" cy="1992925"/>
          </a:xfrm>
        </p:grpSpPr>
        <p:sp>
          <p:nvSpPr>
            <p:cNvPr id="14" name="Rectángulo redondeado 13">
              <a:extLst>
                <a:ext uri="{FF2B5EF4-FFF2-40B4-BE49-F238E27FC236}">
                  <a16:creationId xmlns:a16="http://schemas.microsoft.com/office/drawing/2014/main" id="{FC179AD0-ED02-975F-E151-1E1C61EAD8F2}"/>
                </a:ext>
              </a:extLst>
            </p:cNvPr>
            <p:cNvSpPr/>
            <p:nvPr/>
          </p:nvSpPr>
          <p:spPr>
            <a:xfrm>
              <a:off x="207596" y="6427010"/>
              <a:ext cx="14668990" cy="1676402"/>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Descripción de la metodología aplicada 4-5 líneas</a:t>
              </a:r>
              <a:endParaRPr lang="es-ES_tradnl" sz="2400" i="1" dirty="0">
                <a:solidFill>
                  <a:schemeClr val="tx1"/>
                </a:solidFill>
              </a:endParaRPr>
            </a:p>
          </p:txBody>
        </p:sp>
        <p:sp>
          <p:nvSpPr>
            <p:cNvPr id="15" name="Rectángulo redondeado 14">
              <a:extLst>
                <a:ext uri="{FF2B5EF4-FFF2-40B4-BE49-F238E27FC236}">
                  <a16:creationId xmlns:a16="http://schemas.microsoft.com/office/drawing/2014/main" id="{51C45BDA-AC75-EE13-A211-698BB3CF2EDC}"/>
                </a:ext>
              </a:extLst>
            </p:cNvPr>
            <p:cNvSpPr/>
            <p:nvPr/>
          </p:nvSpPr>
          <p:spPr>
            <a:xfrm>
              <a:off x="500674" y="6110487"/>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METODOLOGÍA</a:t>
              </a:r>
            </a:p>
          </p:txBody>
        </p:sp>
      </p:grpSp>
      <p:grpSp>
        <p:nvGrpSpPr>
          <p:cNvPr id="9" name="Grupo 8">
            <a:extLst>
              <a:ext uri="{FF2B5EF4-FFF2-40B4-BE49-F238E27FC236}">
                <a16:creationId xmlns:a16="http://schemas.microsoft.com/office/drawing/2014/main" id="{0449220D-F047-A208-80A5-ECB282B1A62A}"/>
              </a:ext>
            </a:extLst>
          </p:cNvPr>
          <p:cNvGrpSpPr/>
          <p:nvPr/>
        </p:nvGrpSpPr>
        <p:grpSpPr>
          <a:xfrm>
            <a:off x="207596" y="7336997"/>
            <a:ext cx="14668990" cy="9782603"/>
            <a:chOff x="225180" y="8290675"/>
            <a:chExt cx="14668990" cy="9782603"/>
          </a:xfrm>
        </p:grpSpPr>
        <p:sp>
          <p:nvSpPr>
            <p:cNvPr id="16" name="Rectángulo redondeado 15">
              <a:extLst>
                <a:ext uri="{FF2B5EF4-FFF2-40B4-BE49-F238E27FC236}">
                  <a16:creationId xmlns:a16="http://schemas.microsoft.com/office/drawing/2014/main" id="{F757B5F2-E57A-7217-E1AA-4D7E21F42FA0}"/>
                </a:ext>
              </a:extLst>
            </p:cNvPr>
            <p:cNvSpPr/>
            <p:nvPr/>
          </p:nvSpPr>
          <p:spPr>
            <a:xfrm>
              <a:off x="225180" y="8607196"/>
              <a:ext cx="14668990" cy="9466082"/>
            </a:xfrm>
            <a:prstGeom prst="roundRect">
              <a:avLst>
                <a:gd name="adj" fmla="val 1988"/>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Visualización de gráficos correspondientes</a:t>
              </a:r>
              <a:endParaRPr lang="es-ES_tradnl" sz="2400" i="1" dirty="0">
                <a:solidFill>
                  <a:schemeClr val="tx1"/>
                </a:solidFill>
              </a:endParaRPr>
            </a:p>
          </p:txBody>
        </p:sp>
        <p:sp>
          <p:nvSpPr>
            <p:cNvPr id="17" name="Rectángulo redondeado 16">
              <a:extLst>
                <a:ext uri="{FF2B5EF4-FFF2-40B4-BE49-F238E27FC236}">
                  <a16:creationId xmlns:a16="http://schemas.microsoft.com/office/drawing/2014/main" id="{D2CE81C2-DE7D-86C0-BE63-0B1C502B9BDA}"/>
                </a:ext>
              </a:extLst>
            </p:cNvPr>
            <p:cNvSpPr/>
            <p:nvPr/>
          </p:nvSpPr>
          <p:spPr>
            <a:xfrm>
              <a:off x="518258" y="8290675"/>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RESULTADOS</a:t>
              </a:r>
            </a:p>
          </p:txBody>
        </p:sp>
      </p:grpSp>
      <p:pic>
        <p:nvPicPr>
          <p:cNvPr id="1028" name="Picture 4">
            <a:extLst>
              <a:ext uri="{FF2B5EF4-FFF2-40B4-BE49-F238E27FC236}">
                <a16:creationId xmlns:a16="http://schemas.microsoft.com/office/drawing/2014/main" id="{D59CAA55-5763-DE38-517F-B4583DC84A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50767" y="-95516"/>
            <a:ext cx="2325820" cy="1400890"/>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upo 17">
            <a:extLst>
              <a:ext uri="{FF2B5EF4-FFF2-40B4-BE49-F238E27FC236}">
                <a16:creationId xmlns:a16="http://schemas.microsoft.com/office/drawing/2014/main" id="{7943CC5D-1654-184E-A7EC-A76F98FA9E8B}"/>
              </a:ext>
            </a:extLst>
          </p:cNvPr>
          <p:cNvGrpSpPr>
            <a:grpSpLocks noChangeAspect="1"/>
          </p:cNvGrpSpPr>
          <p:nvPr/>
        </p:nvGrpSpPr>
        <p:grpSpPr>
          <a:xfrm>
            <a:off x="0" y="-5895"/>
            <a:ext cx="3397496" cy="2303046"/>
            <a:chOff x="0" y="-5895"/>
            <a:chExt cx="4834200" cy="3276938"/>
          </a:xfrm>
        </p:grpSpPr>
        <p:pic>
          <p:nvPicPr>
            <p:cNvPr id="5" name="Imagen 4">
              <a:extLst>
                <a:ext uri="{FF2B5EF4-FFF2-40B4-BE49-F238E27FC236}">
                  <a16:creationId xmlns:a16="http://schemas.microsoft.com/office/drawing/2014/main" id="{7E5760BA-D4D0-7C9E-76ED-065ED11398EB}"/>
                </a:ext>
              </a:extLst>
            </p:cNvPr>
            <p:cNvPicPr>
              <a:picLocks noChangeAspect="1"/>
            </p:cNvPicPr>
            <p:nvPr/>
          </p:nvPicPr>
          <p:blipFill>
            <a:blip r:embed="rId3"/>
            <a:stretch>
              <a:fillRect/>
            </a:stretch>
          </p:blipFill>
          <p:spPr>
            <a:xfrm>
              <a:off x="0" y="-5895"/>
              <a:ext cx="4834200" cy="3276938"/>
            </a:xfrm>
            <a:prstGeom prst="rect">
              <a:avLst/>
            </a:prstGeom>
          </p:spPr>
        </p:pic>
        <p:sp>
          <p:nvSpPr>
            <p:cNvPr id="2" name="Rectángulo 1">
              <a:extLst>
                <a:ext uri="{FF2B5EF4-FFF2-40B4-BE49-F238E27FC236}">
                  <a16:creationId xmlns:a16="http://schemas.microsoft.com/office/drawing/2014/main" id="{4D86C97A-A2AB-20A7-3EB2-1F46C5416136}"/>
                </a:ext>
              </a:extLst>
            </p:cNvPr>
            <p:cNvSpPr/>
            <p:nvPr/>
          </p:nvSpPr>
          <p:spPr>
            <a:xfrm>
              <a:off x="964642" y="1549130"/>
              <a:ext cx="2257529" cy="671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3" name="Rectángulo redondeado 2">
            <a:extLst>
              <a:ext uri="{FF2B5EF4-FFF2-40B4-BE49-F238E27FC236}">
                <a16:creationId xmlns:a16="http://schemas.microsoft.com/office/drawing/2014/main" id="{70138B42-E335-E05D-E193-37141538289E}"/>
              </a:ext>
            </a:extLst>
          </p:cNvPr>
          <p:cNvSpPr/>
          <p:nvPr/>
        </p:nvSpPr>
        <p:spPr>
          <a:xfrm>
            <a:off x="677955" y="1320342"/>
            <a:ext cx="13763441" cy="1981203"/>
          </a:xfrm>
          <a:prstGeom prst="roundRect">
            <a:avLst>
              <a:gd name="adj" fmla="val 9702"/>
            </a:avLst>
          </a:prstGeom>
          <a:solidFill>
            <a:srgbClr val="4196C9"/>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46800" rtlCol="0" anchor="ctr"/>
          <a:lstStyle/>
          <a:p>
            <a:pPr algn="ctr"/>
            <a:r>
              <a:rPr lang="es-ES_tradnl" sz="4000" b="1" dirty="0">
                <a:solidFill>
                  <a:schemeClr val="bg1"/>
                </a:solidFill>
              </a:rPr>
              <a:t>Título de la actividad</a:t>
            </a:r>
          </a:p>
          <a:p>
            <a:pPr algn="ctr">
              <a:lnSpc>
                <a:spcPct val="80000"/>
              </a:lnSpc>
            </a:pPr>
            <a:r>
              <a:rPr lang="es-ES_tradnl" sz="2800" b="1" i="1" dirty="0">
                <a:solidFill>
                  <a:schemeClr val="bg1"/>
                </a:solidFill>
              </a:rPr>
              <a:t>Nombre de la asignatura</a:t>
            </a:r>
            <a:endParaRPr lang="es-ES_tradnl" sz="3600" b="1" i="1" dirty="0">
              <a:solidFill>
                <a:schemeClr val="bg1"/>
              </a:solidFill>
            </a:endParaRPr>
          </a:p>
          <a:p>
            <a:pPr algn="ctr">
              <a:lnSpc>
                <a:spcPct val="80000"/>
              </a:lnSpc>
            </a:pPr>
            <a:r>
              <a:rPr lang="es-ES_tradnl" sz="2000" b="1" i="1" dirty="0">
                <a:solidFill>
                  <a:schemeClr val="bg1"/>
                </a:solidFill>
              </a:rPr>
              <a:t>Nombre Apellidos 1, Nombre Apellidos 2, Nombre Apellidos 3…</a:t>
            </a:r>
          </a:p>
        </p:txBody>
      </p:sp>
      <p:grpSp>
        <p:nvGrpSpPr>
          <p:cNvPr id="33" name="Grupo 32">
            <a:extLst>
              <a:ext uri="{FF2B5EF4-FFF2-40B4-BE49-F238E27FC236}">
                <a16:creationId xmlns:a16="http://schemas.microsoft.com/office/drawing/2014/main" id="{2C6C9477-586D-D4FB-ADEE-063D77B3A812}"/>
              </a:ext>
            </a:extLst>
          </p:cNvPr>
          <p:cNvGrpSpPr/>
          <p:nvPr/>
        </p:nvGrpSpPr>
        <p:grpSpPr>
          <a:xfrm>
            <a:off x="207596" y="17303689"/>
            <a:ext cx="9095800" cy="3844742"/>
            <a:chOff x="225181" y="17303689"/>
            <a:chExt cx="9095800" cy="3844742"/>
          </a:xfrm>
        </p:grpSpPr>
        <p:sp>
          <p:nvSpPr>
            <p:cNvPr id="34" name="Rectángulo redondeado 33">
              <a:extLst>
                <a:ext uri="{FF2B5EF4-FFF2-40B4-BE49-F238E27FC236}">
                  <a16:creationId xmlns:a16="http://schemas.microsoft.com/office/drawing/2014/main" id="{1B34C5B1-3A9B-391B-803D-711026F44639}"/>
                </a:ext>
              </a:extLst>
            </p:cNvPr>
            <p:cNvSpPr/>
            <p:nvPr/>
          </p:nvSpPr>
          <p:spPr>
            <a:xfrm>
              <a:off x="225181" y="17620211"/>
              <a:ext cx="9095800"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Interpretación de resultados, posibles relaciones si aplica, etc.</a:t>
              </a:r>
              <a:endParaRPr lang="es-ES_tradnl" sz="2400" i="1" dirty="0">
                <a:solidFill>
                  <a:schemeClr val="tx1"/>
                </a:solidFill>
              </a:endParaRPr>
            </a:p>
          </p:txBody>
        </p:sp>
        <p:sp>
          <p:nvSpPr>
            <p:cNvPr id="35" name="Rectángulo redondeado 34">
              <a:extLst>
                <a:ext uri="{FF2B5EF4-FFF2-40B4-BE49-F238E27FC236}">
                  <a16:creationId xmlns:a16="http://schemas.microsoft.com/office/drawing/2014/main" id="{3BC039B6-C9D2-02F3-8F27-C85043A7CC84}"/>
                </a:ext>
              </a:extLst>
            </p:cNvPr>
            <p:cNvSpPr/>
            <p:nvPr/>
          </p:nvSpPr>
          <p:spPr>
            <a:xfrm>
              <a:off x="518258"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DISCUSIÓN</a:t>
              </a:r>
            </a:p>
          </p:txBody>
        </p:sp>
      </p:grpSp>
      <p:grpSp>
        <p:nvGrpSpPr>
          <p:cNvPr id="36" name="Grupo 35">
            <a:extLst>
              <a:ext uri="{FF2B5EF4-FFF2-40B4-BE49-F238E27FC236}">
                <a16:creationId xmlns:a16="http://schemas.microsoft.com/office/drawing/2014/main" id="{7CDA7380-1384-C476-FC20-7A4A09E7B7FE}"/>
              </a:ext>
            </a:extLst>
          </p:cNvPr>
          <p:cNvGrpSpPr/>
          <p:nvPr/>
        </p:nvGrpSpPr>
        <p:grpSpPr>
          <a:xfrm>
            <a:off x="9509873" y="17303689"/>
            <a:ext cx="5366712" cy="3844742"/>
            <a:chOff x="7784856" y="17303689"/>
            <a:chExt cx="7109314" cy="3844742"/>
          </a:xfrm>
        </p:grpSpPr>
        <p:sp>
          <p:nvSpPr>
            <p:cNvPr id="37" name="Rectángulo redondeado 36">
              <a:extLst>
                <a:ext uri="{FF2B5EF4-FFF2-40B4-BE49-F238E27FC236}">
                  <a16:creationId xmlns:a16="http://schemas.microsoft.com/office/drawing/2014/main" id="{367F38DE-6476-4ED5-51AD-7070BD6A603F}"/>
                </a:ext>
              </a:extLst>
            </p:cNvPr>
            <p:cNvSpPr/>
            <p:nvPr/>
          </p:nvSpPr>
          <p:spPr>
            <a:xfrm>
              <a:off x="7784856" y="17620211"/>
              <a:ext cx="7109314"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Resumen principal de hallazgos y limitaciones del análisis si aplica</a:t>
              </a:r>
              <a:endParaRPr lang="es-ES_tradnl" sz="2400" i="1" dirty="0">
                <a:solidFill>
                  <a:schemeClr val="tx1"/>
                </a:solidFill>
              </a:endParaRPr>
            </a:p>
          </p:txBody>
        </p:sp>
        <p:sp>
          <p:nvSpPr>
            <p:cNvPr id="38" name="Rectángulo redondeado 37">
              <a:extLst>
                <a:ext uri="{FF2B5EF4-FFF2-40B4-BE49-F238E27FC236}">
                  <a16:creationId xmlns:a16="http://schemas.microsoft.com/office/drawing/2014/main" id="{0757AA33-190F-8E74-0CAC-D7C442BACE75}"/>
                </a:ext>
              </a:extLst>
            </p:cNvPr>
            <p:cNvSpPr/>
            <p:nvPr/>
          </p:nvSpPr>
          <p:spPr>
            <a:xfrm>
              <a:off x="8077933"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CONCLUSIONES</a:t>
              </a:r>
            </a:p>
          </p:txBody>
        </p:sp>
      </p:grpSp>
      <p:sp>
        <p:nvSpPr>
          <p:cNvPr id="39" name="Rectángulo redondeado 38">
            <a:extLst>
              <a:ext uri="{FF2B5EF4-FFF2-40B4-BE49-F238E27FC236}">
                <a16:creationId xmlns:a16="http://schemas.microsoft.com/office/drawing/2014/main" id="{05ACB882-C17A-7163-5754-50C1DB29AA22}"/>
              </a:ext>
            </a:extLst>
          </p:cNvPr>
          <p:cNvSpPr/>
          <p:nvPr/>
        </p:nvSpPr>
        <p:spPr>
          <a:xfrm>
            <a:off x="500673" y="8930920"/>
            <a:ext cx="1395975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1.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Descripción.</a:t>
            </a:r>
          </a:p>
        </p:txBody>
      </p:sp>
      <p:sp>
        <p:nvSpPr>
          <p:cNvPr id="40" name="Rectángulo redondeado 39">
            <a:extLst>
              <a:ext uri="{FF2B5EF4-FFF2-40B4-BE49-F238E27FC236}">
                <a16:creationId xmlns:a16="http://schemas.microsoft.com/office/drawing/2014/main" id="{3F03464F-6AD8-145A-F4F0-58880920BB73}"/>
              </a:ext>
            </a:extLst>
          </p:cNvPr>
          <p:cNvSpPr/>
          <p:nvPr/>
        </p:nvSpPr>
        <p:spPr>
          <a:xfrm>
            <a:off x="518258" y="9799765"/>
            <a:ext cx="1395975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2.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Descripción.</a:t>
            </a:r>
          </a:p>
        </p:txBody>
      </p:sp>
      <p:sp>
        <p:nvSpPr>
          <p:cNvPr id="41" name="Rectángulo redondeado 40">
            <a:extLst>
              <a:ext uri="{FF2B5EF4-FFF2-40B4-BE49-F238E27FC236}">
                <a16:creationId xmlns:a16="http://schemas.microsoft.com/office/drawing/2014/main" id="{A5674FB9-8324-DF2F-A950-34B0495EFB78}"/>
              </a:ext>
            </a:extLst>
          </p:cNvPr>
          <p:cNvSpPr/>
          <p:nvPr/>
        </p:nvSpPr>
        <p:spPr>
          <a:xfrm>
            <a:off x="518258" y="10660249"/>
            <a:ext cx="1395975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3.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Descripción.</a:t>
            </a:r>
          </a:p>
        </p:txBody>
      </p:sp>
    </p:spTree>
    <p:extLst>
      <p:ext uri="{BB962C8B-B14F-4D97-AF65-F5344CB8AC3E}">
        <p14:creationId xmlns:p14="http://schemas.microsoft.com/office/powerpoint/2010/main" val="4045999932"/>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Flow_SignoffStatus xmlns="27c1adeb-3674-457c-b08c-8a73f31b6e23" xsi:nil="true"/>
    <lcf76f155ced4ddcb4097134ff3c332f xmlns="27c1adeb-3674-457c-b08c-8a73f31b6e23">
      <Terms xmlns="http://schemas.microsoft.com/office/infopath/2007/PartnerControls"/>
    </lcf76f155ced4ddcb4097134ff3c332f>
    <TaxCatchAll xmlns="0a70e875-3d35-4be2-921f-7117c31bab9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DF3D7C797EA12745A270EF30E38719B9" ma:contentTypeVersion="20" ma:contentTypeDescription="Crear nuevo documento." ma:contentTypeScope="" ma:versionID="98b23ce13f8ef13134c980882a27b8cc">
  <xsd:schema xmlns:xsd="http://www.w3.org/2001/XMLSchema" xmlns:xs="http://www.w3.org/2001/XMLSchema" xmlns:p="http://schemas.microsoft.com/office/2006/metadata/properties" xmlns:ns2="0a70e875-3d35-4be2-921f-7117c31bab9b" xmlns:ns3="27c1adeb-3674-457c-b08c-8a73f31b6e23" targetNamespace="http://schemas.microsoft.com/office/2006/metadata/properties" ma:root="true" ma:fieldsID="83d50475b18a8f95f7f8edf1c6caa3f2" ns2:_="" ns3:_="">
    <xsd:import namespace="0a70e875-3d35-4be2-921f-7117c31bab9b"/>
    <xsd:import namespace="27c1adeb-3674-457c-b08c-8a73f31b6e2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lcf76f155ced4ddcb4097134ff3c332f" minOccurs="0"/>
                <xsd:element ref="ns2:TaxCatchAll" minOccurs="0"/>
                <xsd:element ref="ns3:MediaServiceSearchProperties" minOccurs="0"/>
                <xsd:element ref="ns3:_Flow_SignoffStatus" minOccurs="0"/>
                <xsd:element ref="ns3:MediaServiceObjectDetectorVersion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70e875-3d35-4be2-921f-7117c31bab9b"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TaxCatchAll" ma:index="23" nillable="true" ma:displayName="Taxonomy Catch All Column" ma:hidden="true" ma:list="{c7f67346-78c9-4c4d-b954-8d350fdf60db}" ma:internalName="TaxCatchAll" ma:showField="CatchAllData" ma:web="0a70e875-3d35-4be2-921f-7117c31bab9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7c1adeb-3674-457c-b08c-8a73f31b6e2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Etiquetas de imagen" ma:readOnly="false" ma:fieldId="{5cf76f15-5ced-4ddc-b409-7134ff3c332f}" ma:taxonomyMulti="true" ma:sspId="17631b59-e624-4eb7-963c-219f14f887a3"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_Flow_SignoffStatus" ma:index="25" nillable="true" ma:displayName="Estado de aprobación" ma:internalName="Estado_x0020_de_x0020_aprobaci_x00f3_n">
      <xsd:simpleType>
        <xsd:restriction base="dms:Text"/>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CFF8D81-72FC-452A-A72A-98522D59D5C9}">
  <ds:schemaRefs>
    <ds:schemaRef ds:uri="http://schemas.microsoft.com/office/2006/metadata/properties"/>
    <ds:schemaRef ds:uri="http://schemas.microsoft.com/office/infopath/2007/PartnerControls"/>
    <ds:schemaRef ds:uri="27c1adeb-3674-457c-b08c-8a73f31b6e23"/>
    <ds:schemaRef ds:uri="0a70e875-3d35-4be2-921f-7117c31bab9b"/>
  </ds:schemaRefs>
</ds:datastoreItem>
</file>

<file path=customXml/itemProps2.xml><?xml version="1.0" encoding="utf-8"?>
<ds:datastoreItem xmlns:ds="http://schemas.openxmlformats.org/officeDocument/2006/customXml" ds:itemID="{8FA9EA36-75B9-47E0-B3F6-D548E75A2A5A}">
  <ds:schemaRefs>
    <ds:schemaRef ds:uri="http://schemas.microsoft.com/sharepoint/v3/contenttype/forms"/>
  </ds:schemaRefs>
</ds:datastoreItem>
</file>

<file path=customXml/itemProps3.xml><?xml version="1.0" encoding="utf-8"?>
<ds:datastoreItem xmlns:ds="http://schemas.openxmlformats.org/officeDocument/2006/customXml" ds:itemID="{F0E4AC05-6E48-496A-9B4A-D9E0A45171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70e875-3d35-4be2-921f-7117c31bab9b"/>
    <ds:schemaRef ds:uri="27c1adeb-3674-457c-b08c-8a73f31b6e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0361ecad-3f61-4749-aa5c-87fde47ef9ad}" enabled="1" method="Privileged" siteId="{22c8b4a4-d926-43b2-bcc7-87b998590b47}" contentBits="0" removed="0"/>
</clbl:labelList>
</file>

<file path=docProps/app.xml><?xml version="1.0" encoding="utf-8"?>
<Properties xmlns="http://schemas.openxmlformats.org/officeDocument/2006/extended-properties" xmlns:vt="http://schemas.openxmlformats.org/officeDocument/2006/docPropsVTypes">
  <Template>Office Theme</Template>
  <TotalTime>67</TotalTime>
  <Words>902</Words>
  <Application>Microsoft Office PowerPoint</Application>
  <PresentationFormat>Personalizado</PresentationFormat>
  <Paragraphs>58</Paragraphs>
  <Slides>3</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vt:i4>
      </vt:variant>
    </vt:vector>
  </HeadingPairs>
  <TitlesOfParts>
    <vt:vector size="8" baseType="lpstr">
      <vt:lpstr>Aptos</vt:lpstr>
      <vt:lpstr>Aptos Display</vt:lpstr>
      <vt:lpstr>Arial</vt:lpstr>
      <vt:lpstr>Wingdings</vt:lpstr>
      <vt:lpstr>Tema de Office</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Victor  de la O Pascual</dc:creator>
  <cp:lastModifiedBy>Caterina Galli</cp:lastModifiedBy>
  <cp:revision>13</cp:revision>
  <dcterms:created xsi:type="dcterms:W3CDTF">2025-04-21T10:03:24Z</dcterms:created>
  <dcterms:modified xsi:type="dcterms:W3CDTF">2025-09-18T18:21:27Z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0x010100DF3D7C797EA12745A270EF30E38719B9</vt:lpwstr>
  </property>
  <property fmtid="{D5CDD505-2E9C-101B-9397-08002B2CF9AE}" pid="3" name="MediaServiceImageTags">
    <vt:lpwstr/>
  </property>
</Properties>
</file>